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1143000"/>
            <a:ext cx="109728" cy="4023360"/>
          </a:xfrm>
          <a:prstGeom prst="rect">
            <a:avLst/>
          </a:prstGeom>
          <a:solidFill>
            <a:srgbClr val="3D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182437"/>
                </a:solidFill>
                <a:latin typeface="Aptos"/>
              </a:defRPr>
            </a:pPr>
            <a:r>
              <a:t>NirmanSathi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19456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272F3B"/>
                </a:solidFill>
                <a:latin typeface="Aptos"/>
              </a:defRPr>
            </a:pPr>
            <a:r>
              <a:t>National Digital Construction Governance</a:t>
            </a:r>
            <a:br/>
            <a:r>
              <a:t>&amp; Marketplace Platform for Nepal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337560"/>
            <a:ext cx="2057400" cy="310896"/>
          </a:xfrm>
          <a:prstGeom prst="roundRect">
            <a:avLst/>
          </a:prstGeom>
          <a:solidFill>
            <a:srgbClr val="E8EFFB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67B4"/>
                </a:solidFill>
                <a:latin typeface="Aptos"/>
              </a:defRPr>
            </a:pPr>
            <a:r>
              <a:t>SOFTWARE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862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46E7C"/>
                </a:solidFill>
                <a:latin typeface="Aptos"/>
              </a:defRPr>
            </a:pPr>
            <a:r>
              <a:t>4+1 View Model •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709160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4B535F"/>
                </a:solidFill>
                <a:latin typeface="Aptos"/>
              </a:defRPr>
            </a:pPr>
            <a:r>
              <a:t>BCS CSIT Project • Django + Bootstrap + JavaScript +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58978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6E7C"/>
                </a:solidFill>
                <a:latin typeface="Aptos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1. System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Who uses NirmanSathi and what the platform provides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2011680" cy="713232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Citizen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2093976"/>
            <a:ext cx="1005840" cy="0"/>
          </a:xfrm>
          <a:prstGeom prst="line">
            <a:avLst/>
          </a:prstGeom>
          <a:ln w="1651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2816352"/>
            <a:ext cx="2011680" cy="713232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Municipality</a:t>
            </a:r>
            <a:br/>
            <a:r>
              <a:t>Officer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3172968"/>
            <a:ext cx="1005840" cy="0"/>
          </a:xfrm>
          <a:prstGeom prst="line">
            <a:avLst/>
          </a:prstGeom>
          <a:ln w="1651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3895344"/>
            <a:ext cx="2011680" cy="713232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Material</a:t>
            </a:r>
            <a:br/>
            <a:r>
              <a:t>Supplier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88920" y="4251960"/>
            <a:ext cx="1005840" cy="0"/>
          </a:xfrm>
          <a:prstGeom prst="line">
            <a:avLst/>
          </a:prstGeom>
          <a:ln w="1651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4974336"/>
            <a:ext cx="2011680" cy="713232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Administrator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5330952"/>
            <a:ext cx="1005840" cy="0"/>
          </a:xfrm>
          <a:prstGeom prst="line">
            <a:avLst/>
          </a:prstGeom>
          <a:ln w="1651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94760" y="1737360"/>
            <a:ext cx="4572000" cy="4023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72F3B"/>
                </a:solidFill>
                <a:latin typeface="Aptos"/>
              </a:defRPr>
            </a:pPr>
            <a:r>
              <a:t>NirmanSathi</a:t>
            </a:r>
            <a:br/>
            <a:br/>
            <a:r>
              <a:t>E-Governance + Marketplace</a:t>
            </a:r>
            <a:br/>
            <a:br/>
            <a:r>
              <a:t>Authentication / RBAC</a:t>
            </a:r>
            <a:br/>
            <a:r>
              <a:t>Permit Management</a:t>
            </a:r>
            <a:br/>
            <a:r>
              <a:t>Location Data</a:t>
            </a:r>
            <a:br/>
            <a:r>
              <a:t>Products • Cart • Orders</a:t>
            </a:r>
            <a:br/>
            <a:r>
              <a:t>Simulated Payment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737360"/>
            <a:ext cx="210312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Permit</a:t>
            </a:r>
            <a:br/>
            <a:r>
              <a:t>Governance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66760" y="2194560"/>
            <a:ext cx="777240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0" y="3154680"/>
            <a:ext cx="2103120" cy="9144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Marketplace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66760" y="3611880"/>
            <a:ext cx="777240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0" y="4572000"/>
            <a:ext cx="2103120" cy="9144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Simulated</a:t>
            </a:r>
            <a:br/>
            <a:r>
              <a:t>Payment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66760" y="5029200"/>
            <a:ext cx="777240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2. 4+1 Architecture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Each view answers a different architectural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737360"/>
            <a:ext cx="283464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LOGICAL VIEW</a:t>
            </a:r>
            <a:br/>
            <a:r>
              <a:t>What does the system 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2834640" cy="91440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DEVELOPMENT VIEW</a:t>
            </a:r>
            <a:br/>
            <a:r>
              <a:t>How is code organized?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291840"/>
            <a:ext cx="2834640" cy="9144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PROCESS VIEW</a:t>
            </a:r>
            <a:br/>
            <a:r>
              <a:t>How does it run?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846320"/>
            <a:ext cx="2834640" cy="9144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PHYSICAL VIEW</a:t>
            </a:r>
            <a:br/>
            <a:r>
              <a:t>Where does it run?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200400"/>
            <a:ext cx="28346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NirmanSathi</a:t>
            </a:r>
            <a:br/>
            <a: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8978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437"/>
                </a:solidFill>
                <a:latin typeface="Aptos"/>
              </a:defRPr>
            </a:pPr>
            <a:r>
              <a:t>+1 Scenario /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24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B74040"/>
                </a:solidFill>
                <a:latin typeface="Aptos"/>
              </a:defRPr>
            </a:pPr>
            <a:r>
              <a:t>Source of truth: audited current implementation — no invented SMTP, real eSewa, Redis, Docker, or cloud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3. Logical View — Master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Business capabilities and the security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743200" cy="4389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CLIENT / UNTRUSTED</a:t>
            </a:r>
            <a:br/>
            <a:br/>
            <a:r>
              <a:t>Login</a:t>
            </a:r>
            <a:br/>
            <a:br/>
            <a:r>
              <a:t>Client-side role navigation</a:t>
            </a:r>
            <a:br/>
            <a:br/>
            <a:r>
              <a:t>Permit forms</a:t>
            </a:r>
            <a:br/>
            <a:r>
              <a:t>Marketplace UI</a:t>
            </a:r>
            <a:br/>
            <a:r>
              <a:t>Cart / Checkout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349240"/>
            <a:ext cx="1828800" cy="310896"/>
          </a:xfrm>
          <a:prstGeom prst="roundRect">
            <a:avLst/>
          </a:prstGeom>
          <a:solidFill>
            <a:srgbClr val="E8EFFB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67B4"/>
                </a:solidFill>
                <a:latin typeface="Aptos"/>
              </a:defRPr>
            </a:pPr>
            <a:r>
              <a:t>JWT ACCESS TOKEN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234440"/>
            <a:ext cx="7543800" cy="4983480"/>
          </a:xfrm>
          <a:prstGeom prst="rect">
            <a:avLst/>
          </a:prstGeom>
          <a:solidFill>
            <a:srgbClr val="F5F7FA"/>
          </a:solidFill>
          <a:ln w="2032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1417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82437"/>
                </a:solidFill>
                <a:latin typeface="Aptos"/>
              </a:defRPr>
            </a:pPr>
            <a:r>
              <a:t>SERVER / TRUSTED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2057400" cy="6858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Authentication</a:t>
            </a:r>
            <a:br/>
            <a:r>
              <a:t>+ RBAC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874519"/>
            <a:ext cx="2057400" cy="6858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Permit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874519"/>
            <a:ext cx="2057400" cy="6858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Marketplace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063240"/>
            <a:ext cx="2057400" cy="68580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063240"/>
            <a:ext cx="2057400" cy="6858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Cart / 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251960"/>
            <a:ext cx="2057400" cy="68580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Officer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251960"/>
            <a:ext cx="2057400" cy="6858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Simulated Payment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5394960"/>
            <a:ext cx="205740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SQLite / ORM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429000" y="2212848"/>
            <a:ext cx="868680" cy="530352"/>
          </a:xfrm>
          <a:prstGeom prst="line">
            <a:avLst/>
          </a:prstGeom>
          <a:ln w="1651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55080" y="2212848"/>
            <a:ext cx="365760" cy="0"/>
          </a:xfrm>
          <a:prstGeom prst="line">
            <a:avLst/>
          </a:prstGeom>
          <a:ln w="1651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78240" y="2212848"/>
            <a:ext cx="365760" cy="0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54112" y="2560320"/>
            <a:ext cx="0" cy="502920"/>
          </a:xfrm>
          <a:prstGeom prst="line">
            <a:avLst/>
          </a:prstGeom>
          <a:ln w="16510">
            <a:solidFill>
              <a:srgbClr val="6F5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168128" y="2560320"/>
            <a:ext cx="0" cy="502920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54112" y="3749039"/>
            <a:ext cx="0" cy="502921"/>
          </a:xfrm>
          <a:prstGeom prst="line">
            <a:avLst/>
          </a:prstGeom>
          <a:ln w="16510">
            <a:solidFill>
              <a:srgbClr val="6F5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68128" y="3749039"/>
            <a:ext cx="0" cy="502921"/>
          </a:xfrm>
          <a:prstGeom prst="line">
            <a:avLst/>
          </a:prstGeom>
          <a:ln w="1651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4937760"/>
            <a:ext cx="0" cy="45720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778240" y="4937760"/>
            <a:ext cx="1389888" cy="704088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4. Logical View — Permit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Core e-governance business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96596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Create Application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377440"/>
            <a:ext cx="457200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63239" y="1920240"/>
            <a:ext cx="1965960" cy="91440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Upload Documents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2377440"/>
            <a:ext cx="457200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0" y="1920240"/>
            <a:ext cx="1965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Validate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52360" y="2377440"/>
            <a:ext cx="457200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09559" y="1920240"/>
            <a:ext cx="1965960" cy="91440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Officer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566160"/>
            <a:ext cx="283464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Decision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080760" y="2834640"/>
            <a:ext cx="2807208" cy="73152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663440"/>
            <a:ext cx="2468880" cy="777240"/>
          </a:xfrm>
          <a:prstGeom prst="roundRect">
            <a:avLst/>
          </a:prstGeom>
          <a:solidFill>
            <a:srgbClr val="F9E8E8"/>
          </a:solidFill>
          <a:ln w="13970">
            <a:solidFill>
              <a:srgbClr val="B7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Correction /</a:t>
            </a:r>
            <a:br/>
            <a:r>
              <a:t>Resubmission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663440"/>
            <a:ext cx="2468880" cy="77724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Approved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663440"/>
            <a:ext cx="2468880" cy="777240"/>
          </a:xfrm>
          <a:prstGeom prst="roundRect">
            <a:avLst/>
          </a:prstGeom>
          <a:solidFill>
            <a:srgbClr val="F9E8E8"/>
          </a:solidFill>
          <a:ln w="13970">
            <a:solidFill>
              <a:srgbClr val="B7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Rejected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148840" y="4297680"/>
            <a:ext cx="3931920" cy="365760"/>
          </a:xfrm>
          <a:prstGeom prst="line">
            <a:avLst/>
          </a:prstGeom>
          <a:ln w="16510">
            <a:solidFill>
              <a:srgbClr val="B7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806440" y="4297680"/>
            <a:ext cx="274320" cy="365760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4297680"/>
            <a:ext cx="3383280" cy="365760"/>
          </a:xfrm>
          <a:prstGeom prst="line">
            <a:avLst/>
          </a:prstGeom>
          <a:ln w="16510">
            <a:solidFill>
              <a:srgbClr val="B7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5806440"/>
            <a:ext cx="9784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6E7C"/>
                </a:solidFill>
                <a:latin typeface="Aptos"/>
              </a:defRPr>
            </a:pPr>
            <a:r>
              <a:t>Outcome is persisted and exposed through permit status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5. Logical View — Marketplace &amp;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Cart, order and simulated payment remain separate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148840" cy="86868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Product</a:t>
            </a:r>
            <a:br/>
            <a:r>
              <a:t>Catalogue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267712"/>
            <a:ext cx="411479" cy="0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37560" y="1828800"/>
            <a:ext cx="2148840" cy="86868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Cart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2267712"/>
            <a:ext cx="411479" cy="0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60" y="1828800"/>
            <a:ext cx="21488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Checkout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0" y="2267712"/>
            <a:ext cx="411480" cy="0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23960" y="1828800"/>
            <a:ext cx="21488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Create</a:t>
            </a:r>
            <a:br/>
            <a:r>
              <a:t>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3749039"/>
            <a:ext cx="2377440" cy="9144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Simulated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166360"/>
            <a:ext cx="2377440" cy="685800"/>
          </a:xfrm>
          <a:prstGeom prst="roundRect">
            <a:avLst/>
          </a:prstGeom>
          <a:solidFill>
            <a:srgbClr val="F9E8E8"/>
          </a:solidFill>
          <a:ln w="13970">
            <a:solidFill>
              <a:srgbClr val="B7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72F3B"/>
                </a:solidFill>
                <a:latin typeface="Aptos"/>
              </a:defRPr>
            </a:pPr>
            <a:r>
              <a:t>Failure → PENDING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166360"/>
            <a:ext cx="2377440" cy="6858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72F3B"/>
                </a:solidFill>
                <a:latin typeface="Aptos"/>
              </a:defRPr>
            </a:pPr>
            <a:r>
              <a:t>Success → PAID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892040" y="2267712"/>
            <a:ext cx="3200400" cy="1481327"/>
          </a:xfrm>
          <a:prstGeom prst="line">
            <a:avLst/>
          </a:prstGeom>
          <a:ln w="1651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103120" y="4663440"/>
            <a:ext cx="2788920" cy="502920"/>
          </a:xfrm>
          <a:prstGeom prst="line">
            <a:avLst/>
          </a:prstGeom>
          <a:ln w="16510">
            <a:solidFill>
              <a:srgbClr val="B7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92040" y="4663440"/>
            <a:ext cx="4343400" cy="502920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3749039"/>
            <a:ext cx="2651760" cy="9144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Order Status</a:t>
            </a:r>
            <a:br/>
            <a:r>
              <a:t>Confirmed / Pending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4206240"/>
            <a:ext cx="1417319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6. Process View — Runtime Request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Browser request through the Django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123444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Browser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1640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47088" y="2057400"/>
            <a:ext cx="1234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URL Router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81528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36976" y="2057400"/>
            <a:ext cx="1234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Middleware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71416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26864" y="2057400"/>
            <a:ext cx="123444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JWT Auth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61304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16752" y="2057400"/>
            <a:ext cx="1234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Permission</a:t>
            </a:r>
            <a:br/>
            <a:r>
              <a:t>Check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51192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2057400"/>
            <a:ext cx="1234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ViewSet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41080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96528" y="2057400"/>
            <a:ext cx="1234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Serializer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30967" y="2514600"/>
            <a:ext cx="137161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186415" y="2057400"/>
            <a:ext cx="1234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ORM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20855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1576303" y="2057400"/>
            <a:ext cx="1234440" cy="9144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57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D67B4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657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F529D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657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CD7E28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0" y="4572000"/>
            <a:ext cx="81381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Response: ViewSet → Serializer → JSON Response → Browser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7. Process View — Authentication &amp;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Navigation and authorization are intentionally separated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41732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Login Form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514600"/>
            <a:ext cx="18288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4560" y="2057400"/>
            <a:ext cx="141732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POST /login/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1880" y="2514600"/>
            <a:ext cx="18288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2057400"/>
            <a:ext cx="141732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TokenObtain</a:t>
            </a:r>
            <a:br/>
            <a:r>
              <a:t>PairView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0" y="2514600"/>
            <a:ext cx="18288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2057400"/>
            <a:ext cx="141732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JWT Access +</a:t>
            </a:r>
            <a:br/>
            <a:r>
              <a:t>Refresh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95159" y="2514600"/>
            <a:ext cx="182881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69479" y="2057400"/>
            <a:ext cx="141732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GET /me/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0" y="2514600"/>
            <a:ext cx="18288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61119" y="2057400"/>
            <a:ext cx="1417320" cy="9144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Role</a:t>
            </a:r>
            <a:br/>
            <a:r>
              <a:t>Resolved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78440" y="2514600"/>
            <a:ext cx="182879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652759" y="2057400"/>
            <a:ext cx="1417320" cy="9144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Dashboard</a:t>
            </a:r>
            <a:br/>
            <a:r>
              <a:t>Navigation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14800"/>
            <a:ext cx="438912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CLIENT-SIDE</a:t>
            </a:r>
            <a:br/>
            <a:r>
              <a:t>Role redirect is navigation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14800"/>
            <a:ext cx="4389120" cy="91440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SERVER-SIDE</a:t>
            </a:r>
            <a:br/>
            <a:r>
              <a:t>JWT authentication + permission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3212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6E7C"/>
                </a:solidFill>
                <a:latin typeface="Aptos"/>
              </a:defRPr>
            </a:pPr>
            <a:r>
              <a:t>Every protected API request is authorized at the server boundary.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Development View — Full Development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C6874"/>
                </a:solidFill>
              </a:defRPr>
            </a:pPr>
            <a:r>
              <a:t>How frontend, backend modules, API integration and persistence are developed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514600" cy="4480560"/>
          </a:xfrm>
          <a:prstGeom prst="roundRect">
            <a:avLst/>
          </a:prstGeom>
          <a:solidFill>
            <a:srgbClr val="EFF4FB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FRONTEND DEVELOPMENT</a:t>
            </a:r>
            <a:br/>
            <a:br/>
            <a:r>
              <a:t>HTML Templates</a:t>
            </a:r>
            <a:br/>
            <a:r>
              <a:t>Bootstrap UI</a:t>
            </a:r>
            <a:br/>
            <a:r>
              <a:t>JavaScript</a:t>
            </a:r>
            <a:br/>
            <a:r>
              <a:t>CSS / Static Assets</a:t>
            </a:r>
            <a:br/>
            <a:br/>
            <a:r>
              <a:t>User interaction</a:t>
            </a:r>
            <a:br/>
            <a:r>
              <a:t>↓</a:t>
            </a:r>
            <a:br/>
            <a:r>
              <a:t>HTTP / REST requests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25880"/>
            <a:ext cx="46634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BACKEND DEVELOPMENT</a:t>
            </a:r>
            <a:br/>
            <a:br/>
            <a:r>
              <a:t>config/</a:t>
            </a:r>
            <a:br/>
            <a:r>
              <a:t>settings.py • urls.py</a:t>
            </a:r>
            <a:br/>
            <a:br/>
            <a:r>
              <a:t>Django Apps</a:t>
            </a:r>
            <a:br/>
            <a:r>
              <a:t>accounts • locations</a:t>
            </a:r>
            <a:br/>
            <a:r>
              <a:t>permits • marketplace • payments</a:t>
            </a:r>
            <a:br/>
            <a:br/>
            <a:r>
              <a:t>Inside apps:</a:t>
            </a:r>
            <a:br/>
            <a:r>
              <a:t>models.py • serializers.py</a:t>
            </a:r>
            <a:br/>
            <a:r>
              <a:t>views.py • urls.py</a:t>
            </a:r>
            <a:br/>
            <a:r>
              <a:t>permissions.py where used</a:t>
            </a:r>
            <a:br/>
            <a:br/>
            <a:r>
              <a:t>Django REST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325880"/>
            <a:ext cx="32004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DATA / PERSISTENCE</a:t>
            </a:r>
            <a:br/>
            <a:br/>
            <a:r>
              <a:t>Django ORM</a:t>
            </a:r>
            <a:br/>
            <a:r>
              <a:t>↓</a:t>
            </a:r>
            <a:br/>
            <a:r>
              <a:t>db.sqlite3</a:t>
            </a:r>
            <a:br/>
            <a:br/>
            <a:r>
              <a:t>Current development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3566160"/>
            <a:ext cx="3200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DEVELOPMENT RESOURCES</a:t>
            </a:r>
            <a:br/>
            <a:br/>
            <a:r>
              <a:t>templates/</a:t>
            </a:r>
            <a:br/>
            <a:r>
              <a:t>static/</a:t>
            </a:r>
            <a:br/>
            <a:r>
              <a:t>media/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5074920"/>
            <a:ext cx="32004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Git / GitHub</a:t>
            </a:r>
            <a:br/>
            <a:r>
              <a:t>Version control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3566160"/>
            <a:ext cx="411480" cy="0"/>
          </a:xfrm>
          <a:prstGeom prst="line">
            <a:avLst/>
          </a:prstGeom>
          <a:ln w="1778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83180" y="34198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6874"/>
                </a:solidFill>
              </a:defRPr>
            </a:pPr>
            <a:r>
              <a:t>HTTP / API</a:t>
            </a:r>
          </a:p>
        </p:txBody>
      </p:sp>
      <p:cxnSp>
        <p:nvCxnSpPr>
          <p:cNvPr id="12" name="Connector 11"/>
          <p:cNvCxnSpPr>
            <a:cxnSpLocks/>
            <a:stCxn id="6" idx="3"/>
          </p:cNvCxnSpPr>
          <p:nvPr/>
        </p:nvCxnSpPr>
        <p:spPr>
          <a:xfrm flipV="1">
            <a:off x="8092440" y="2286000"/>
            <a:ext cx="365760" cy="1280160"/>
          </a:xfrm>
          <a:prstGeom prst="line">
            <a:avLst/>
          </a:prstGeom>
          <a:ln w="1778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35240" y="27340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6874"/>
                </a:solidFill>
              </a:defRPr>
            </a:pPr>
            <a:r>
              <a:t>ORM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92440" y="4114800"/>
            <a:ext cx="365760" cy="0"/>
          </a:xfrm>
          <a:prstGeom prst="line">
            <a:avLst/>
          </a:prstGeom>
          <a:ln w="1778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35240" y="39090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6874"/>
                </a:solidFill>
              </a:defRPr>
            </a:pPr>
            <a:r>
              <a:t>render / 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3420" y="54772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6874"/>
                </a:solidFill>
              </a:defRPr>
            </a:pPr>
            <a:r>
              <a:t>source changes tracked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874"/>
                </a:solidFill>
              </a:defRPr>
            </a:pPr>
            <a:r>
              <a:t>Development flow: UI implementation → API integration → Django business logic → ORM persistence → testing / iteration. PostgreSQL, Gunicorn and cloud deployment are future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9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965D367-6D9D-027A-D36A-9FE214A0B5EE}"/>
              </a:ext>
            </a:extLst>
          </p:cNvPr>
          <p:cNvSpPr/>
          <p:nvPr/>
        </p:nvSpPr>
        <p:spPr>
          <a:xfrm>
            <a:off x="1394416" y="5806439"/>
            <a:ext cx="9766767" cy="964029"/>
          </a:xfrm>
          <a:custGeom>
            <a:avLst/>
            <a:gdLst>
              <a:gd name="csX0" fmla="*/ 34889 w 9786531"/>
              <a:gd name="csY0" fmla="*/ 17755 h 991106"/>
              <a:gd name="csX1" fmla="*/ 1384295 w 9786531"/>
              <a:gd name="csY1" fmla="*/ 958788 h 991106"/>
              <a:gd name="csX2" fmla="*/ 9072357 w 9786531"/>
              <a:gd name="csY2" fmla="*/ 701336 h 991106"/>
              <a:gd name="csX3" fmla="*/ 8992458 w 9786531"/>
              <a:gd name="csY3" fmla="*/ 0 h 991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786531" h="991106">
                <a:moveTo>
                  <a:pt x="34889" y="17755"/>
                </a:moveTo>
                <a:cubicBezTo>
                  <a:pt x="-43531" y="431306"/>
                  <a:pt x="-121950" y="844858"/>
                  <a:pt x="1384295" y="958788"/>
                </a:cubicBezTo>
                <a:cubicBezTo>
                  <a:pt x="2890540" y="1072718"/>
                  <a:pt x="7804330" y="861134"/>
                  <a:pt x="9072357" y="701336"/>
                </a:cubicBezTo>
                <a:cubicBezTo>
                  <a:pt x="10340384" y="541538"/>
                  <a:pt x="9666421" y="270769"/>
                  <a:pt x="8992458" y="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16">
            <a:extLst>
              <a:ext uri="{FF2B5EF4-FFF2-40B4-BE49-F238E27FC236}">
                <a16:creationId xmlns:a16="http://schemas.microsoft.com/office/drawing/2014/main" id="{7B6889C1-E821-AE76-2831-9761544B93AA}"/>
              </a:ext>
            </a:extLst>
          </p:cNvPr>
          <p:cNvSpPr txBox="1"/>
          <p:nvPr/>
        </p:nvSpPr>
        <p:spPr>
          <a:xfrm>
            <a:off x="543560" y="147317"/>
            <a:ext cx="11064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B4C"/>
                </a:solidFill>
                <a:latin typeface="Aptos"/>
              </a:rPr>
              <a:t>Development View — NirmanSathi Development Process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C682DF3-C805-411D-2E50-C0643675D8C0}"/>
              </a:ext>
            </a:extLst>
          </p:cNvPr>
          <p:cNvSpPr txBox="1"/>
          <p:nvPr/>
        </p:nvSpPr>
        <p:spPr>
          <a:xfrm>
            <a:off x="561848" y="586229"/>
            <a:ext cx="10972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976"/>
                </a:solidFill>
                <a:latin typeface="Aptos"/>
              </a:rPr>
              <a:t>High-level development approach from requirements and design to implementation, integration, testing and version-controlled documentation</a:t>
            </a:r>
          </a:p>
        </p:txBody>
      </p:sp>
      <p:sp>
        <p:nvSpPr>
          <p:cNvPr id="119" name="Rounded Rectangle 3">
            <a:extLst>
              <a:ext uri="{FF2B5EF4-FFF2-40B4-BE49-F238E27FC236}">
                <a16:creationId xmlns:a16="http://schemas.microsoft.com/office/drawing/2014/main" id="{DC60BFBB-7C96-4549-085A-0E3190F59169}"/>
              </a:ext>
            </a:extLst>
          </p:cNvPr>
          <p:cNvSpPr/>
          <p:nvPr/>
        </p:nvSpPr>
        <p:spPr>
          <a:xfrm>
            <a:off x="635000" y="1061717"/>
            <a:ext cx="242316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500" b="1">
                <a:solidFill>
                  <a:srgbClr val="142B4C"/>
                </a:solidFill>
                <a:latin typeface="Aptos"/>
              </a:rPr>
              <a:t>Requirements / SRS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Functional &amp; non-functional requirements</a:t>
            </a:r>
          </a:p>
        </p:txBody>
      </p:sp>
      <p:sp>
        <p:nvSpPr>
          <p:cNvPr id="120" name="Rounded Rectangle 4">
            <a:extLst>
              <a:ext uri="{FF2B5EF4-FFF2-40B4-BE49-F238E27FC236}">
                <a16:creationId xmlns:a16="http://schemas.microsoft.com/office/drawing/2014/main" id="{462C776F-25D7-0816-DB01-F5592F3C0D8C}"/>
              </a:ext>
            </a:extLst>
          </p:cNvPr>
          <p:cNvSpPr/>
          <p:nvPr/>
        </p:nvSpPr>
        <p:spPr>
          <a:xfrm>
            <a:off x="3743960" y="1061717"/>
            <a:ext cx="242316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84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500" b="1">
                <a:solidFill>
                  <a:srgbClr val="142B4C"/>
                </a:solidFill>
                <a:latin typeface="Aptos"/>
              </a:rPr>
              <a:t>System &amp; UI Design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Design before implementation</a:t>
            </a:r>
          </a:p>
        </p:txBody>
      </p:sp>
      <p:cxnSp>
        <p:nvCxnSpPr>
          <p:cNvPr id="121" name="Connector 5">
            <a:extLst>
              <a:ext uri="{FF2B5EF4-FFF2-40B4-BE49-F238E27FC236}">
                <a16:creationId xmlns:a16="http://schemas.microsoft.com/office/drawing/2014/main" id="{9188C5D5-80E0-E3F0-7A98-AB5768F1612C}"/>
              </a:ext>
            </a:extLst>
          </p:cNvPr>
          <p:cNvCxnSpPr/>
          <p:nvPr/>
        </p:nvCxnSpPr>
        <p:spPr>
          <a:xfrm>
            <a:off x="3058160" y="1418333"/>
            <a:ext cx="685800" cy="0"/>
          </a:xfrm>
          <a:prstGeom prst="line">
            <a:avLst/>
          </a:prstGeom>
          <a:ln w="2032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6">
            <a:extLst>
              <a:ext uri="{FF2B5EF4-FFF2-40B4-BE49-F238E27FC236}">
                <a16:creationId xmlns:a16="http://schemas.microsoft.com/office/drawing/2014/main" id="{471A347E-FD27-6952-5771-A3EA1B1B845C}"/>
              </a:ext>
            </a:extLst>
          </p:cNvPr>
          <p:cNvSpPr/>
          <p:nvPr/>
        </p:nvSpPr>
        <p:spPr>
          <a:xfrm>
            <a:off x="1366520" y="2021837"/>
            <a:ext cx="9372600" cy="1938528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D51ED52-FC14-BAD6-368A-70655125612B}"/>
              </a:ext>
            </a:extLst>
          </p:cNvPr>
          <p:cNvSpPr txBox="1"/>
          <p:nvPr/>
        </p:nvSpPr>
        <p:spPr>
          <a:xfrm>
            <a:off x="1640840" y="2131565"/>
            <a:ext cx="8823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42B4C"/>
                </a:solidFill>
                <a:latin typeface="Aptos"/>
              </a:rPr>
              <a:t>PARALLEL IMPLEMENTATION</a:t>
            </a:r>
          </a:p>
        </p:txBody>
      </p:sp>
      <p:cxnSp>
        <p:nvCxnSpPr>
          <p:cNvPr id="124" name="Connector 8">
            <a:extLst>
              <a:ext uri="{FF2B5EF4-FFF2-40B4-BE49-F238E27FC236}">
                <a16:creationId xmlns:a16="http://schemas.microsoft.com/office/drawing/2014/main" id="{63AFFD61-2F16-F182-3EAB-4DA5428770F5}"/>
              </a:ext>
            </a:extLst>
          </p:cNvPr>
          <p:cNvCxnSpPr/>
          <p:nvPr/>
        </p:nvCxnSpPr>
        <p:spPr>
          <a:xfrm>
            <a:off x="4960112" y="1774949"/>
            <a:ext cx="0" cy="246888"/>
          </a:xfrm>
          <a:prstGeom prst="line">
            <a:avLst/>
          </a:prstGeom>
          <a:ln w="2032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9">
            <a:extLst>
              <a:ext uri="{FF2B5EF4-FFF2-40B4-BE49-F238E27FC236}">
                <a16:creationId xmlns:a16="http://schemas.microsoft.com/office/drawing/2014/main" id="{A96B729A-1481-81F8-8732-C9F6A02B6060}"/>
              </a:ext>
            </a:extLst>
          </p:cNvPr>
          <p:cNvSpPr/>
          <p:nvPr/>
        </p:nvSpPr>
        <p:spPr>
          <a:xfrm>
            <a:off x="1686560" y="2561333"/>
            <a:ext cx="260604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400" b="1">
                <a:solidFill>
                  <a:srgbClr val="142B4C"/>
                </a:solidFill>
                <a:latin typeface="Aptos"/>
              </a:rPr>
              <a:t>Frontend Development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Django templates
Bootstrap • JavaScript
CSS / static files</a:t>
            </a:r>
          </a:p>
        </p:txBody>
      </p:sp>
      <p:sp>
        <p:nvSpPr>
          <p:cNvPr id="126" name="Rounded Rectangle 10">
            <a:extLst>
              <a:ext uri="{FF2B5EF4-FFF2-40B4-BE49-F238E27FC236}">
                <a16:creationId xmlns:a16="http://schemas.microsoft.com/office/drawing/2014/main" id="{0229F0C3-47CF-7499-7E45-0B40DAFE8DDC}"/>
              </a:ext>
            </a:extLst>
          </p:cNvPr>
          <p:cNvSpPr/>
          <p:nvPr/>
        </p:nvSpPr>
        <p:spPr>
          <a:xfrm>
            <a:off x="4740656" y="2561333"/>
            <a:ext cx="260604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84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400" b="1">
                <a:solidFill>
                  <a:srgbClr val="142B4C"/>
                </a:solidFill>
                <a:latin typeface="Aptos"/>
              </a:rPr>
              <a:t>Backend Development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Django apps • DRF / views
Serializers • Permissions / URLs</a:t>
            </a:r>
          </a:p>
        </p:txBody>
      </p:sp>
      <p:sp>
        <p:nvSpPr>
          <p:cNvPr id="127" name="Rounded Rectangle 11">
            <a:extLst>
              <a:ext uri="{FF2B5EF4-FFF2-40B4-BE49-F238E27FC236}">
                <a16:creationId xmlns:a16="http://schemas.microsoft.com/office/drawing/2014/main" id="{407759E2-E43F-325E-55EF-5A364CB99059}"/>
              </a:ext>
            </a:extLst>
          </p:cNvPr>
          <p:cNvSpPr/>
          <p:nvPr/>
        </p:nvSpPr>
        <p:spPr>
          <a:xfrm>
            <a:off x="7794752" y="2561333"/>
            <a:ext cx="260604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400" b="1">
                <a:solidFill>
                  <a:srgbClr val="142B4C"/>
                </a:solidFill>
                <a:latin typeface="Aptos"/>
              </a:rPr>
              <a:t>Database Development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Models • Migrations
Django ORM • SQLite</a:t>
            </a:r>
          </a:p>
        </p:txBody>
      </p:sp>
      <p:cxnSp>
        <p:nvCxnSpPr>
          <p:cNvPr id="128" name="Connector 12">
            <a:extLst>
              <a:ext uri="{FF2B5EF4-FFF2-40B4-BE49-F238E27FC236}">
                <a16:creationId xmlns:a16="http://schemas.microsoft.com/office/drawing/2014/main" id="{F7EC7FAB-D91D-287F-1780-7E64AE702EC5}"/>
              </a:ext>
            </a:extLst>
          </p:cNvPr>
          <p:cNvCxnSpPr/>
          <p:nvPr/>
        </p:nvCxnSpPr>
        <p:spPr>
          <a:xfrm>
            <a:off x="2994152" y="3676901"/>
            <a:ext cx="1847088" cy="493776"/>
          </a:xfrm>
          <a:prstGeom prst="line">
            <a:avLst/>
          </a:prstGeom>
          <a:ln w="1651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3">
            <a:extLst>
              <a:ext uri="{FF2B5EF4-FFF2-40B4-BE49-F238E27FC236}">
                <a16:creationId xmlns:a16="http://schemas.microsoft.com/office/drawing/2014/main" id="{1E573342-DE36-14DD-C0AD-BFA4812666C6}"/>
              </a:ext>
            </a:extLst>
          </p:cNvPr>
          <p:cNvCxnSpPr/>
          <p:nvPr/>
        </p:nvCxnSpPr>
        <p:spPr>
          <a:xfrm>
            <a:off x="6048248" y="3676901"/>
            <a:ext cx="0" cy="493776"/>
          </a:xfrm>
          <a:prstGeom prst="line">
            <a:avLst/>
          </a:prstGeom>
          <a:ln w="16510">
            <a:solidFill>
              <a:srgbClr val="684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4">
            <a:extLst>
              <a:ext uri="{FF2B5EF4-FFF2-40B4-BE49-F238E27FC236}">
                <a16:creationId xmlns:a16="http://schemas.microsoft.com/office/drawing/2014/main" id="{8D11DB22-6A27-481E-339E-C7BA01F17B42}"/>
              </a:ext>
            </a:extLst>
          </p:cNvPr>
          <p:cNvCxnSpPr/>
          <p:nvPr/>
        </p:nvCxnSpPr>
        <p:spPr>
          <a:xfrm flipH="1">
            <a:off x="7255256" y="3676901"/>
            <a:ext cx="1837944" cy="493776"/>
          </a:xfrm>
          <a:prstGeom prst="line">
            <a:avLst/>
          </a:prstGeom>
          <a:ln w="16510">
            <a:solidFill>
              <a:srgbClr val="268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5">
            <a:extLst>
              <a:ext uri="{FF2B5EF4-FFF2-40B4-BE49-F238E27FC236}">
                <a16:creationId xmlns:a16="http://schemas.microsoft.com/office/drawing/2014/main" id="{4D5232D0-86BE-1A1E-BC44-2BFD80F95BDE}"/>
              </a:ext>
            </a:extLst>
          </p:cNvPr>
          <p:cNvSpPr/>
          <p:nvPr/>
        </p:nvSpPr>
        <p:spPr>
          <a:xfrm>
            <a:off x="4201160" y="4170677"/>
            <a:ext cx="37033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500" b="1">
                <a:solidFill>
                  <a:srgbClr val="142B4C"/>
                </a:solidFill>
                <a:latin typeface="Aptos"/>
              </a:rPr>
              <a:t>Module Integration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5F6976"/>
                </a:solidFill>
                <a:latin typeface="Aptos"/>
              </a:rPr>
              <a:t>Frontend + Backend + Database</a:t>
            </a:r>
          </a:p>
        </p:txBody>
      </p:sp>
      <p:cxnSp>
        <p:nvCxnSpPr>
          <p:cNvPr id="132" name="Connector 16">
            <a:extLst>
              <a:ext uri="{FF2B5EF4-FFF2-40B4-BE49-F238E27FC236}">
                <a16:creationId xmlns:a16="http://schemas.microsoft.com/office/drawing/2014/main" id="{6857D524-EBDE-DD1C-3678-1A718BDE9C70}"/>
              </a:ext>
            </a:extLst>
          </p:cNvPr>
          <p:cNvCxnSpPr/>
          <p:nvPr/>
        </p:nvCxnSpPr>
        <p:spPr>
          <a:xfrm>
            <a:off x="6057392" y="4829045"/>
            <a:ext cx="0" cy="237744"/>
          </a:xfrm>
          <a:prstGeom prst="line">
            <a:avLst/>
          </a:prstGeom>
          <a:ln w="2032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7">
            <a:extLst>
              <a:ext uri="{FF2B5EF4-FFF2-40B4-BE49-F238E27FC236}">
                <a16:creationId xmlns:a16="http://schemas.microsoft.com/office/drawing/2014/main" id="{8E462698-A698-F7B1-27CF-02F05F00C75E}"/>
              </a:ext>
            </a:extLst>
          </p:cNvPr>
          <p:cNvSpPr/>
          <p:nvPr/>
        </p:nvSpPr>
        <p:spPr>
          <a:xfrm>
            <a:off x="4201160" y="5066789"/>
            <a:ext cx="37033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500" b="1">
                <a:solidFill>
                  <a:srgbClr val="142B4C"/>
                </a:solidFill>
                <a:latin typeface="Aptos"/>
              </a:rPr>
              <a:t>Testing &amp; Validation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5F6976"/>
                </a:solidFill>
                <a:latin typeface="Aptos"/>
              </a:rPr>
              <a:t>Implemented features are verified</a:t>
            </a:r>
          </a:p>
        </p:txBody>
      </p:sp>
      <p:cxnSp>
        <p:nvCxnSpPr>
          <p:cNvPr id="134" name="Connector 18">
            <a:extLst>
              <a:ext uri="{FF2B5EF4-FFF2-40B4-BE49-F238E27FC236}">
                <a16:creationId xmlns:a16="http://schemas.microsoft.com/office/drawing/2014/main" id="{7134690F-E6D6-21AD-B2BB-E5F5CE48D485}"/>
              </a:ext>
            </a:extLst>
          </p:cNvPr>
          <p:cNvCxnSpPr/>
          <p:nvPr/>
        </p:nvCxnSpPr>
        <p:spPr>
          <a:xfrm>
            <a:off x="6057392" y="5725157"/>
            <a:ext cx="0" cy="201168"/>
          </a:xfrm>
          <a:prstGeom prst="line">
            <a:avLst/>
          </a:prstGeom>
          <a:ln w="2032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9">
            <a:extLst>
              <a:ext uri="{FF2B5EF4-FFF2-40B4-BE49-F238E27FC236}">
                <a16:creationId xmlns:a16="http://schemas.microsoft.com/office/drawing/2014/main" id="{A12C903F-7E39-F6F4-0AA6-F482C71760C9}"/>
              </a:ext>
            </a:extLst>
          </p:cNvPr>
          <p:cNvSpPr/>
          <p:nvPr/>
        </p:nvSpPr>
        <p:spPr>
          <a:xfrm>
            <a:off x="4201160" y="5798309"/>
            <a:ext cx="205740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84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300" b="1">
                <a:solidFill>
                  <a:srgbClr val="142B4C"/>
                </a:solidFill>
                <a:latin typeface="Aptos"/>
              </a:rPr>
              <a:t>Fix / Revise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5F6976"/>
                </a:solidFill>
                <a:latin typeface="Aptos"/>
              </a:rPr>
              <a:t>Affected files</a:t>
            </a:r>
          </a:p>
        </p:txBody>
      </p:sp>
      <p:sp>
        <p:nvSpPr>
          <p:cNvPr id="136" name="Rounded Rectangle 20">
            <a:extLst>
              <a:ext uri="{FF2B5EF4-FFF2-40B4-BE49-F238E27FC236}">
                <a16:creationId xmlns:a16="http://schemas.microsoft.com/office/drawing/2014/main" id="{FF2C966A-43C0-CBFE-F01A-5C88C650A62B}"/>
              </a:ext>
            </a:extLst>
          </p:cNvPr>
          <p:cNvSpPr/>
          <p:nvPr/>
        </p:nvSpPr>
        <p:spPr>
          <a:xfrm>
            <a:off x="6487160" y="5798309"/>
            <a:ext cx="224028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F6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300" b="1">
                <a:solidFill>
                  <a:srgbClr val="142B4C"/>
                </a:solidFill>
                <a:latin typeface="Aptos"/>
              </a:rPr>
              <a:t>Documentation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5F6976"/>
                </a:solidFill>
                <a:latin typeface="Aptos"/>
              </a:rPr>
              <a:t>Project docs + SRS</a:t>
            </a:r>
          </a:p>
        </p:txBody>
      </p:sp>
      <p:sp>
        <p:nvSpPr>
          <p:cNvPr id="137" name="Rounded Rectangle 21">
            <a:extLst>
              <a:ext uri="{FF2B5EF4-FFF2-40B4-BE49-F238E27FC236}">
                <a16:creationId xmlns:a16="http://schemas.microsoft.com/office/drawing/2014/main" id="{1519CD22-BBB3-51EC-34AE-9229FCA17A5F}"/>
              </a:ext>
            </a:extLst>
          </p:cNvPr>
          <p:cNvSpPr/>
          <p:nvPr/>
        </p:nvSpPr>
        <p:spPr>
          <a:xfrm>
            <a:off x="8956040" y="5798309"/>
            <a:ext cx="224028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F6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300" b="1">
                <a:solidFill>
                  <a:srgbClr val="142B4C"/>
                </a:solidFill>
                <a:latin typeface="Aptos"/>
              </a:rPr>
              <a:t>Git / GitHub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5F6976"/>
                </a:solidFill>
                <a:latin typeface="Aptos"/>
              </a:rPr>
              <a:t>Version Control</a:t>
            </a:r>
          </a:p>
        </p:txBody>
      </p:sp>
      <p:cxnSp>
        <p:nvCxnSpPr>
          <p:cNvPr id="138" name="Connector 22">
            <a:extLst>
              <a:ext uri="{FF2B5EF4-FFF2-40B4-BE49-F238E27FC236}">
                <a16:creationId xmlns:a16="http://schemas.microsoft.com/office/drawing/2014/main" id="{A300FFB4-A0DD-A7D9-8277-DF3A1D08C2BE}"/>
              </a:ext>
            </a:extLst>
          </p:cNvPr>
          <p:cNvCxnSpPr/>
          <p:nvPr/>
        </p:nvCxnSpPr>
        <p:spPr>
          <a:xfrm>
            <a:off x="6258560" y="6081773"/>
            <a:ext cx="228600" cy="0"/>
          </a:xfrm>
          <a:prstGeom prst="line">
            <a:avLst/>
          </a:prstGeom>
          <a:ln w="1524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23">
            <a:extLst>
              <a:ext uri="{FF2B5EF4-FFF2-40B4-BE49-F238E27FC236}">
                <a16:creationId xmlns:a16="http://schemas.microsoft.com/office/drawing/2014/main" id="{3FCB001A-04A3-3767-A294-4C5FA995A563}"/>
              </a:ext>
            </a:extLst>
          </p:cNvPr>
          <p:cNvCxnSpPr/>
          <p:nvPr/>
        </p:nvCxnSpPr>
        <p:spPr>
          <a:xfrm>
            <a:off x="8727440" y="6081773"/>
            <a:ext cx="228600" cy="0"/>
          </a:xfrm>
          <a:prstGeom prst="line">
            <a:avLst/>
          </a:prstGeom>
          <a:ln w="1524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8F6D2733-7B28-DFD6-A12E-BAB87D0A3953}"/>
              </a:ext>
            </a:extLst>
          </p:cNvPr>
          <p:cNvSpPr txBox="1"/>
          <p:nvPr/>
        </p:nvSpPr>
        <p:spPr>
          <a:xfrm>
            <a:off x="607568" y="6410957"/>
            <a:ext cx="10881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5F6976"/>
                </a:solidFill>
                <a:latin typeface="Aptos"/>
              </a:rPr>
              <a:t>Development process view — not runtime request processing or deployment topology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10. Physical View — Current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Current development topology — not the planned production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331720" cy="11430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Client Device</a:t>
            </a:r>
            <a:br/>
            <a:br/>
            <a:r>
              <a:t>Web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554480"/>
            <a:ext cx="278892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Developer / Host Machine</a:t>
            </a:r>
            <a:br/>
            <a:br/>
            <a:r>
              <a:t>Django Development Server</a:t>
            </a:r>
            <a:br/>
            <a:br/>
            <a:r>
              <a:t>config + Django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828800"/>
            <a:ext cx="2194560" cy="11430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SQLite</a:t>
            </a:r>
            <a:br/>
            <a:br/>
            <a:r>
              <a:t>db.sqlite3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395728"/>
            <a:ext cx="1645920" cy="0"/>
          </a:xfrm>
          <a:prstGeom prst="line">
            <a:avLst/>
          </a:prstGeom>
          <a:ln w="1905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29000" y="2057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D67B4"/>
                </a:solidFill>
                <a:latin typeface="Aptos"/>
              </a:defRPr>
            </a:pPr>
            <a:r>
              <a:t>HTTP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79" y="2395728"/>
            <a:ext cx="1645921" cy="0"/>
          </a:xfrm>
          <a:prstGeom prst="line">
            <a:avLst/>
          </a:prstGeom>
          <a:ln w="1905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26679" y="2057400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D7E28"/>
                </a:solidFill>
                <a:latin typeface="Aptos"/>
              </a:defRPr>
            </a:pPr>
            <a:r>
              <a:t>DB / 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4160520"/>
            <a:ext cx="781812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72F3B"/>
                </a:solidFill>
                <a:latin typeface="Aptos"/>
              </a:defRPr>
            </a:pPr>
            <a:r>
              <a:t>CURRENT PHYSICAL REALITY</a:t>
            </a:r>
            <a:br/>
            <a:r>
              <a:t>Local Django development server + SQLite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5486400"/>
            <a:ext cx="2971800" cy="310896"/>
          </a:xfrm>
          <a:prstGeom prst="roundRect">
            <a:avLst/>
          </a:prstGeom>
          <a:solidFill>
            <a:srgbClr val="FAEFE0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D7E28"/>
                </a:solidFill>
                <a:latin typeface="Aptos"/>
              </a:defRPr>
            </a:pPr>
            <a:r>
              <a:t>POSTGRESQL = TARGET /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11. Physical View — Target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Clearly labelled planned production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103120" cy="100584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Client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00200"/>
            <a:ext cx="274320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Production Django</a:t>
            </a:r>
            <a:br/>
            <a:r>
              <a:t>Application Server</a:t>
            </a:r>
            <a:br/>
            <a:br/>
            <a:r>
              <a:t>Gunicorn / WSGI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920240"/>
            <a:ext cx="2560320" cy="100584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PostgreSQL</a:t>
            </a:r>
            <a:br/>
            <a:r>
              <a:t>Database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2423160"/>
            <a:ext cx="868680" cy="0"/>
          </a:xfrm>
          <a:prstGeom prst="line">
            <a:avLst/>
          </a:prstGeom>
          <a:ln w="1905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2423160"/>
            <a:ext cx="1554479" cy="0"/>
          </a:xfrm>
          <a:prstGeom prst="line">
            <a:avLst/>
          </a:prstGeom>
          <a:ln w="1905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63240" y="21031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D67B4"/>
                </a:solidFill>
                <a:latin typeface="Aptos"/>
              </a:defRPr>
            </a:pPr>
            <a:r>
              <a:t>HTTPS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031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D7E28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160520"/>
            <a:ext cx="9052560" cy="9144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PLANNED — NOT YET IMPLEMENTED</a:t>
            </a:r>
            <a:br/>
            <a:r>
              <a:t>PostgreSQL deployment replaces the current SQLite development database.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12. Scenario View — Citizen Permit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Sequence: submit → persist → review → update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59" y="1325880"/>
            <a:ext cx="137160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Citizen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1874519"/>
            <a:ext cx="0" cy="4023361"/>
          </a:xfrm>
          <a:prstGeom prst="line">
            <a:avLst/>
          </a:prstGeom>
          <a:ln w="1270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51760" y="1325880"/>
            <a:ext cx="137160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Permit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1874519"/>
            <a:ext cx="0" cy="4023361"/>
          </a:xfrm>
          <a:prstGeom prst="line">
            <a:avLst/>
          </a:prstGeom>
          <a:ln w="1270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37760" y="1325880"/>
            <a:ext cx="137160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Document 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1874519"/>
            <a:ext cx="0" cy="4023361"/>
          </a:xfrm>
          <a:prstGeom prst="line">
            <a:avLst/>
          </a:prstGeom>
          <a:ln w="12700">
            <a:solidFill>
              <a:srgbClr val="6F5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23760" y="1325880"/>
            <a:ext cx="137160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SQLite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60" y="1874519"/>
            <a:ext cx="0" cy="4023361"/>
          </a:xfrm>
          <a:prstGeom prst="line">
            <a:avLst/>
          </a:prstGeom>
          <a:ln w="1270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0" y="1325880"/>
            <a:ext cx="137160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Officer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95560" y="1874519"/>
            <a:ext cx="0" cy="4023361"/>
          </a:xfrm>
          <a:prstGeom prst="line">
            <a:avLst/>
          </a:prstGeom>
          <a:ln w="1270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51560" y="2331720"/>
            <a:ext cx="2286000" cy="0"/>
          </a:xfrm>
          <a:prstGeom prst="line">
            <a:avLst/>
          </a:prstGeom>
          <a:ln w="1270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71600" y="20391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D67B4"/>
                </a:solidFill>
                <a:latin typeface="Aptos"/>
              </a:defRPr>
            </a:pPr>
            <a:r>
              <a:t>POST application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2880360"/>
            <a:ext cx="4572000" cy="0"/>
          </a:xfrm>
          <a:prstGeom prst="line">
            <a:avLst/>
          </a:prstGeom>
          <a:ln w="1270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00600" y="258775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D7E28"/>
                </a:solidFill>
                <a:latin typeface="Aptos"/>
              </a:defRPr>
            </a:pPr>
            <a:r>
              <a:t>save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337560" y="3429000"/>
            <a:ext cx="4572000" cy="0"/>
          </a:xfrm>
          <a:prstGeom prst="line">
            <a:avLst/>
          </a:prstGeom>
          <a:ln w="1270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00600" y="3136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D7E28"/>
                </a:solidFill>
                <a:latin typeface="Aptos"/>
              </a:defRPr>
            </a:pPr>
            <a:r>
              <a:t>201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51560" y="3977639"/>
            <a:ext cx="4572000" cy="0"/>
          </a:xfrm>
          <a:prstGeom prst="line">
            <a:avLst/>
          </a:prstGeom>
          <a:ln w="12700">
            <a:solidFill>
              <a:srgbClr val="6F5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14600" y="3685031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F529D"/>
                </a:solidFill>
                <a:latin typeface="Aptos"/>
              </a:defRPr>
            </a:pPr>
            <a:r>
              <a:t>POST document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23560" y="4526280"/>
            <a:ext cx="2286000" cy="0"/>
          </a:xfrm>
          <a:prstGeom prst="line">
            <a:avLst/>
          </a:prstGeom>
          <a:ln w="1270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0" y="423367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D7E28"/>
                </a:solidFill>
                <a:latin typeface="Aptos"/>
              </a:defRPr>
            </a:pPr>
            <a:r>
              <a:t>save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37560" y="5074920"/>
            <a:ext cx="6858000" cy="0"/>
          </a:xfrm>
          <a:prstGeom prst="line">
            <a:avLst/>
          </a:prstGeom>
          <a:ln w="1270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0" y="47823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5845B"/>
                </a:solidFill>
                <a:latin typeface="Aptos"/>
              </a:defRPr>
            </a:pPr>
            <a:r>
              <a:t>review /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37560" y="5623560"/>
            <a:ext cx="4572000" cy="0"/>
          </a:xfrm>
          <a:prstGeom prst="line">
            <a:avLst/>
          </a:prstGeom>
          <a:ln w="1270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00600" y="533095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D7E28"/>
                </a:solidFill>
                <a:latin typeface="Aptos"/>
              </a:defRPr>
            </a:pPr>
            <a:r>
              <a:t>update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35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B74040"/>
                </a:solidFill>
                <a:latin typeface="Aptos"/>
              </a:defRPr>
            </a:pPr>
            <a:r>
              <a:t>No SMTP notification is shown: the audited implementation has no email/SMS notification service.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13. Scenario View — Marketplace + Simulated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Sequence: cart → checkout → payment → order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55448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Citizen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1874519"/>
            <a:ext cx="0" cy="3977641"/>
          </a:xfrm>
          <a:prstGeom prst="line">
            <a:avLst/>
          </a:prstGeom>
          <a:ln w="1270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37560" y="1325880"/>
            <a:ext cx="155448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Marketplace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1874519"/>
            <a:ext cx="0" cy="3977641"/>
          </a:xfrm>
          <a:prstGeom prst="line">
            <a:avLst/>
          </a:prstGeom>
          <a:ln w="1270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60" y="1325880"/>
            <a:ext cx="155448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Payment 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0" y="1874519"/>
            <a:ext cx="0" cy="3977641"/>
          </a:xfrm>
          <a:prstGeom prst="line">
            <a:avLst/>
          </a:prstGeom>
          <a:ln w="1270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23960" y="1325880"/>
            <a:ext cx="155448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SQLite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0" y="1874519"/>
            <a:ext cx="0" cy="3977641"/>
          </a:xfrm>
          <a:prstGeom prst="line">
            <a:avLst/>
          </a:prstGeom>
          <a:ln w="12700">
            <a:solidFill>
              <a:srgbClr val="6F5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71600" y="2377440"/>
            <a:ext cx="2743200" cy="0"/>
          </a:xfrm>
          <a:prstGeom prst="line">
            <a:avLst/>
          </a:prstGeom>
          <a:ln w="1270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20240" y="208483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5845B"/>
                </a:solidFill>
                <a:latin typeface="Aptos"/>
              </a:defRPr>
            </a:pPr>
            <a:r>
              <a:t>GET products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71600" y="2926080"/>
            <a:ext cx="2743200" cy="0"/>
          </a:xfrm>
          <a:prstGeom prst="line">
            <a:avLst/>
          </a:prstGeom>
          <a:ln w="1270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0240" y="263347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5845B"/>
                </a:solidFill>
                <a:latin typeface="Aptos"/>
              </a:defRPr>
            </a:pPr>
            <a:r>
              <a:t>POST cart item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71600" y="3474720"/>
            <a:ext cx="2743200" cy="0"/>
          </a:xfrm>
          <a:prstGeom prst="line">
            <a:avLst/>
          </a:prstGeom>
          <a:ln w="1270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20240" y="31821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5845B"/>
                </a:solidFill>
                <a:latin typeface="Aptos"/>
              </a:defRPr>
            </a:pPr>
            <a:r>
              <a:t>POST checkout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4023360"/>
            <a:ext cx="5486400" cy="0"/>
          </a:xfrm>
          <a:prstGeom prst="line">
            <a:avLst/>
          </a:prstGeom>
          <a:ln w="12700">
            <a:solidFill>
              <a:srgbClr val="6F5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373075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F529D"/>
                </a:solidFill>
                <a:latin typeface="Aptos"/>
              </a:defRPr>
            </a:pPr>
            <a:r>
              <a:t>create order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71600" y="4572000"/>
            <a:ext cx="5486400" cy="0"/>
          </a:xfrm>
          <a:prstGeom prst="line">
            <a:avLst/>
          </a:prstGeom>
          <a:ln w="1270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91840" y="4279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D7E28"/>
                </a:solidFill>
                <a:latin typeface="Aptos"/>
              </a:defRPr>
            </a:pPr>
            <a:r>
              <a:t>simulate payment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0" y="5120640"/>
            <a:ext cx="2743200" cy="0"/>
          </a:xfrm>
          <a:prstGeom prst="line">
            <a:avLst/>
          </a:prstGeom>
          <a:ln w="12700">
            <a:solidFill>
              <a:srgbClr val="6F5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06640" y="4828031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F529D"/>
                </a:solidFill>
                <a:latin typeface="Aptos"/>
              </a:defRPr>
            </a:pPr>
            <a:r>
              <a:t>persist status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371600" y="5669280"/>
            <a:ext cx="5486400" cy="0"/>
          </a:xfrm>
          <a:prstGeom prst="line">
            <a:avLst/>
          </a:prstGeom>
          <a:ln w="1270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91840" y="537667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D7E28"/>
                </a:solidFill>
                <a:latin typeface="Aptos"/>
              </a:defRPr>
            </a:pPr>
            <a:r>
              <a:t>success / failure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6016752"/>
            <a:ext cx="4846320" cy="32004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72F3B"/>
                </a:solidFill>
                <a:latin typeface="Aptos"/>
              </a:defRPr>
            </a:pPr>
            <a:r>
              <a:t>Payment is simulated inside Django — no external eSewa server.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14. Architecture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The four views describe the same system from different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1828800" cy="64008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72F3B"/>
                </a:solidFill>
                <a:latin typeface="Aptos"/>
              </a:defRPr>
            </a:pPr>
            <a:r>
              <a:t>Logical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280160"/>
            <a:ext cx="832104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272F3B"/>
                </a:solidFill>
                <a:latin typeface="Aptos"/>
              </a:defRPr>
            </a:pPr>
            <a:r>
              <a:t>Business modules, RBAC, permit lifecycle, marketplace, cart, order and simulated payment.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76272"/>
            <a:ext cx="1828800" cy="64008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72F3B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176272"/>
            <a:ext cx="832104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272F3B"/>
                </a:solidFill>
                <a:latin typeface="Aptos"/>
              </a:defRPr>
            </a:pPr>
            <a:r>
              <a:t>HTTP request → middleware → JWT → permission → ViewSet → serializer → ORM → SQLite.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1828800" cy="64008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72F3B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072384"/>
            <a:ext cx="832104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272F3B"/>
                </a:solidFill>
                <a:latin typeface="Aptos"/>
              </a:defRPr>
            </a:pPr>
            <a:r>
              <a:t>Actual Django apps: accounts, locations, permits, marketplace and payments.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68496"/>
            <a:ext cx="1828800" cy="64008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72F3B"/>
                </a:solidFill>
                <a:latin typeface="Aptos"/>
              </a:defRPr>
            </a:pPr>
            <a:r>
              <a:t>Physical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968496"/>
            <a:ext cx="832104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272F3B"/>
                </a:solidFill>
                <a:latin typeface="Aptos"/>
              </a:defRPr>
            </a:pPr>
            <a:r>
              <a:t>Current: browser → Django development server → SQLite. PostgreSQL is planned.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64608"/>
            <a:ext cx="182880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72F3B"/>
                </a:solidFill>
                <a:latin typeface="Aptos"/>
              </a:defRPr>
            </a:pPr>
            <a:r>
              <a:t>+1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864608"/>
            <a:ext cx="832104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272F3B"/>
                </a:solidFill>
                <a:latin typeface="Aptos"/>
              </a:defRPr>
            </a:pPr>
            <a:r>
              <a:t>Permit submission and marketplace/payment sequences validate the architecture.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437"/>
                </a:solidFill>
                <a:latin typeface="Aptos"/>
              </a:defRPr>
            </a:pPr>
            <a:r>
              <a:t>Key viva principle: every component shown is traceable to the current implementation or explicitly labelled as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1080</Words>
  <Application>Microsoft Office PowerPoint</Application>
  <PresentationFormat>Widescreen</PresentationFormat>
  <Paragraphs>207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Binit Singh</cp:lastModifiedBy>
  <cp:revision>3</cp:revision>
  <dcterms:created xsi:type="dcterms:W3CDTF">2013-01-27T09:14:16Z</dcterms:created>
  <dcterms:modified xsi:type="dcterms:W3CDTF">2026-08-11T12:29:09Z</dcterms:modified>
  <cp:category/>
</cp:coreProperties>
</file>