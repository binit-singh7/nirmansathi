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43000"/>
            <a:ext cx="8229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200" b="1">
                <a:solidFill>
                  <a:srgbClr val="1C2026"/>
                </a:solidFill>
                <a:latin typeface="Aptos"/>
              </a:rPr>
              <a:t>NirmanSathi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828800"/>
            <a:ext cx="8229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0">
                <a:solidFill>
                  <a:srgbClr val="185B7A"/>
                </a:solidFill>
                <a:latin typeface="Aptos"/>
              </a:rPr>
              <a:t>4+1 Architectural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468880"/>
            <a:ext cx="8229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626A76"/>
                </a:solidFill>
                <a:latin typeface="Aptos"/>
              </a:rPr>
              <a:t>Logical • Process • Development • Physical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160520"/>
            <a:ext cx="21488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4178807"/>
            <a:ext cx="200253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C2026"/>
                </a:solidFill>
                <a:latin typeface="Aptos"/>
              </a:rPr>
              <a:t>Logical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4503420"/>
            <a:ext cx="594360" cy="0"/>
          </a:xfrm>
          <a:prstGeom prst="line">
            <a:avLst/>
          </a:prstGeom>
          <a:ln w="19050">
            <a:solidFill>
              <a:srgbClr val="42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20440" y="4160520"/>
            <a:ext cx="21488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4178807"/>
            <a:ext cx="200253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C2026"/>
                </a:solidFill>
                <a:latin typeface="Aptos"/>
              </a:rPr>
              <a:t>Process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0" y="4503420"/>
            <a:ext cx="594360" cy="0"/>
          </a:xfrm>
          <a:prstGeom prst="line">
            <a:avLst/>
          </a:prstGeom>
          <a:ln w="19050">
            <a:solidFill>
              <a:srgbClr val="42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63640" y="4160520"/>
            <a:ext cx="21488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4178807"/>
            <a:ext cx="200253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C2026"/>
                </a:solidFill>
                <a:latin typeface="Aptos"/>
              </a:rPr>
              <a:t>Development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80" y="4503420"/>
            <a:ext cx="594360" cy="0"/>
          </a:xfrm>
          <a:prstGeom prst="line">
            <a:avLst/>
          </a:prstGeom>
          <a:ln w="19050">
            <a:solidFill>
              <a:srgbClr val="42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06840" y="4160520"/>
            <a:ext cx="21488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9992" y="4178807"/>
            <a:ext cx="200253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C2026"/>
                </a:solidFill>
                <a:latin typeface="Aptos"/>
              </a:rPr>
              <a:t>Physical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97880"/>
            <a:ext cx="10058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26A76"/>
                </a:solidFill>
                <a:latin typeface="Aptos"/>
              </a:rPr>
              <a:t>Software Engineering — NirmanSathi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85B7A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1C2026"/>
                </a:solidFill>
                <a:latin typeface="Aptos"/>
              </a:rPr>
              <a:t>What the four views explain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26A76"/>
                </a:solidFill>
                <a:latin typeface="Aptos"/>
              </a:rPr>
              <a:t>Each view answers a different architectural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73152" cy="1600200"/>
          </a:xfrm>
          <a:prstGeom prst="rect">
            <a:avLst/>
          </a:prstGeom>
          <a:solidFill>
            <a:srgbClr val="18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57984"/>
            <a:ext cx="48463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C2026"/>
                </a:solidFill>
                <a:latin typeface="Aptos"/>
              </a:rPr>
              <a:t>Logical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78608"/>
            <a:ext cx="4846320" cy="8869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626A76"/>
                </a:solidFill>
                <a:latin typeface="Aptos"/>
              </a:rPr>
              <a:t>What are the major system components, classes, and relationships?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73152" cy="1600200"/>
          </a:xfrm>
          <a:prstGeom prst="rect">
            <a:avLst/>
          </a:prstGeom>
          <a:solidFill>
            <a:srgbClr val="42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57984"/>
            <a:ext cx="48463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C2026"/>
                </a:solidFill>
                <a:latin typeface="Aptos"/>
              </a:rPr>
              <a:t>Process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578608"/>
            <a:ext cx="4846320" cy="8869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626A76"/>
                </a:solidFill>
                <a:latin typeface="Aptos"/>
              </a:rPr>
              <a:t>How do components behave and interact at runtime?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8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069080"/>
            <a:ext cx="73152" cy="1600200"/>
          </a:xfrm>
          <a:prstGeom prst="rect">
            <a:avLst/>
          </a:prstGeom>
          <a:solidFill>
            <a:srgbClr val="18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15384"/>
            <a:ext cx="48463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C2026"/>
                </a:solidFill>
                <a:latin typeface="Aptos"/>
              </a:rPr>
              <a:t>Development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36008"/>
            <a:ext cx="4846320" cy="8869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626A76"/>
                </a:solidFill>
                <a:latin typeface="Aptos"/>
              </a:rPr>
              <a:t>How is the software organized into Django apps and modules?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06908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069080"/>
            <a:ext cx="73152" cy="1600200"/>
          </a:xfrm>
          <a:prstGeom prst="rect">
            <a:avLst/>
          </a:prstGeom>
          <a:solidFill>
            <a:srgbClr val="42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215384"/>
            <a:ext cx="48463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C2026"/>
                </a:solidFill>
                <a:latin typeface="Aptos"/>
              </a:rPr>
              <a:t>Physical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636008"/>
            <a:ext cx="4846320" cy="8869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626A76"/>
                </a:solidFill>
                <a:latin typeface="Aptos"/>
              </a:rPr>
              <a:t>Where are the application and database deployed?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85B7A"/>
                </a:solidFill>
                <a:latin typeface="Apto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1C2026"/>
                </a:solidFill>
                <a:latin typeface="Aptos"/>
              </a:rPr>
              <a:t>Logical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26A76"/>
                </a:solidFill>
                <a:latin typeface="Aptos"/>
              </a:rPr>
              <a:t>Major domain concepts and their relationships.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2461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5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73152" cy="3611880"/>
          </a:xfrm>
          <a:prstGeom prst="rect">
            <a:avLst/>
          </a:prstGeom>
          <a:solidFill>
            <a:srgbClr val="18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0824"/>
            <a:ext cx="2834639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C2026"/>
                </a:solidFill>
                <a:latin typeface="Aptos"/>
              </a:rPr>
              <a:t>Users &amp; 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41448"/>
            <a:ext cx="2834639" cy="28986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626A76"/>
                </a:solidFill>
                <a:latin typeface="Aptos"/>
              </a:rPr>
              <a:t>User
Municipality
Ward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74519"/>
            <a:ext cx="32461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5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874519"/>
            <a:ext cx="73152" cy="3611880"/>
          </a:xfrm>
          <a:prstGeom prst="rect">
            <a:avLst/>
          </a:prstGeom>
          <a:solidFill>
            <a:srgbClr val="427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020824"/>
            <a:ext cx="2834639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C2026"/>
                </a:solidFill>
                <a:latin typeface="Aptos"/>
              </a:rPr>
              <a:t>E-Governance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441448"/>
            <a:ext cx="2834639" cy="28986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626A76"/>
                </a:solidFill>
                <a:latin typeface="Aptos"/>
              </a:rPr>
              <a:t>BuildingPermit
PermitDocument
Application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874519"/>
            <a:ext cx="32461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5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874519"/>
            <a:ext cx="73152" cy="3611880"/>
          </a:xfrm>
          <a:prstGeom prst="rect">
            <a:avLst/>
          </a:prstGeom>
          <a:solidFill>
            <a:srgbClr val="18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020824"/>
            <a:ext cx="2834639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C2026"/>
                </a:solidFill>
                <a:latin typeface="Aptos"/>
              </a:rPr>
              <a:t>Marketplace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41448"/>
            <a:ext cx="2834639" cy="28986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626A76"/>
                </a:solidFill>
                <a:latin typeface="Aptos"/>
              </a:rPr>
              <a:t>Category
Product
Cart / CartItem
Order / OrderItem
Payment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31920" y="3657600"/>
            <a:ext cx="548640" cy="0"/>
          </a:xfrm>
          <a:prstGeom prst="line">
            <a:avLst/>
          </a:prstGeom>
          <a:ln w="19050">
            <a:solidFill>
              <a:srgbClr val="42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26679" y="3657600"/>
            <a:ext cx="548641" cy="0"/>
          </a:xfrm>
          <a:prstGeom prst="line">
            <a:avLst/>
          </a:prstGeom>
          <a:ln w="19050">
            <a:solidFill>
              <a:srgbClr val="42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5897880"/>
            <a:ext cx="10698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26A76"/>
                </a:solidFill>
                <a:latin typeface="Aptos"/>
              </a:rPr>
              <a:t>Focus: business concepts of NirmanSathi, independent of deployment.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85B7A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1C2026"/>
                </a:solidFill>
                <a:latin typeface="Aptos"/>
              </a:rPr>
              <a:t>Process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26A76"/>
                </a:solidFill>
                <a:latin typeface="Aptos"/>
              </a:rPr>
              <a:t>Runtime interaction for the two major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212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C2026"/>
                </a:solidFill>
                <a:latin typeface="Aptos"/>
              </a:rPr>
              <a:t>E-Governance — Permit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5087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532888"/>
            <a:ext cx="136245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C2026"/>
                </a:solidFill>
                <a:latin typeface="Aptos"/>
              </a:rPr>
              <a:t>Citizen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40280" y="2857500"/>
            <a:ext cx="320040" cy="0"/>
          </a:xfrm>
          <a:prstGeom prst="line">
            <a:avLst/>
          </a:prstGeom>
          <a:ln w="19050">
            <a:solidFill>
              <a:srgbClr val="42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828800" y="2514600"/>
            <a:ext cx="15087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01952" y="2532888"/>
            <a:ext cx="136245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C2026"/>
                </a:solidFill>
                <a:latin typeface="Aptos"/>
              </a:rPr>
              <a:t>Apply Permit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37560" y="2857500"/>
            <a:ext cx="320040" cy="0"/>
          </a:xfrm>
          <a:prstGeom prst="line">
            <a:avLst/>
          </a:prstGeom>
          <a:ln w="19050">
            <a:solidFill>
              <a:srgbClr val="42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26080" y="2514600"/>
            <a:ext cx="15087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2532888"/>
            <a:ext cx="136245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C2026"/>
                </a:solidFill>
                <a:latin typeface="Aptos"/>
              </a:rPr>
              <a:t>Upload Documents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34840" y="2857500"/>
            <a:ext cx="320040" cy="0"/>
          </a:xfrm>
          <a:prstGeom prst="line">
            <a:avLst/>
          </a:prstGeom>
          <a:ln w="19050">
            <a:solidFill>
              <a:srgbClr val="42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023360" y="2514600"/>
            <a:ext cx="15087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6512" y="2532888"/>
            <a:ext cx="136245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C2026"/>
                </a:solidFill>
                <a:latin typeface="Aptos"/>
              </a:rPr>
              <a:t>Officer Review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32120" y="2857500"/>
            <a:ext cx="320040" cy="0"/>
          </a:xfrm>
          <a:prstGeom prst="line">
            <a:avLst/>
          </a:prstGeom>
          <a:ln w="19050">
            <a:solidFill>
              <a:srgbClr val="42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20640" y="2514600"/>
            <a:ext cx="15087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3792" y="2532888"/>
            <a:ext cx="136245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C2026"/>
                </a:solidFill>
                <a:latin typeface="Aptos"/>
              </a:rPr>
              <a:t>Approve / Reject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03320"/>
            <a:ext cx="5212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C2026"/>
                </a:solidFill>
                <a:latin typeface="Aptos"/>
              </a:rPr>
              <a:t>Marketplace — Purchase 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89120"/>
            <a:ext cx="15087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407407"/>
            <a:ext cx="136245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C2026"/>
                </a:solidFill>
                <a:latin typeface="Aptos"/>
              </a:rPr>
              <a:t>Browse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40280" y="4732020"/>
            <a:ext cx="320040" cy="0"/>
          </a:xfrm>
          <a:prstGeom prst="line">
            <a:avLst/>
          </a:prstGeom>
          <a:ln w="19050">
            <a:solidFill>
              <a:srgbClr val="42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828800" y="4389120"/>
            <a:ext cx="15087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01952" y="4407407"/>
            <a:ext cx="136245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C2026"/>
                </a:solidFill>
                <a:latin typeface="Aptos"/>
              </a:rPr>
              <a:t>Cart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37560" y="4732020"/>
            <a:ext cx="320040" cy="0"/>
          </a:xfrm>
          <a:prstGeom prst="line">
            <a:avLst/>
          </a:prstGeom>
          <a:ln w="19050">
            <a:solidFill>
              <a:srgbClr val="42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926080" y="4389120"/>
            <a:ext cx="15087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99232" y="4407407"/>
            <a:ext cx="136245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C2026"/>
                </a:solidFill>
                <a:latin typeface="Aptos"/>
              </a:rPr>
              <a:t>Place Order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434840" y="4732020"/>
            <a:ext cx="320040" cy="0"/>
          </a:xfrm>
          <a:prstGeom prst="line">
            <a:avLst/>
          </a:prstGeom>
          <a:ln w="19050">
            <a:solidFill>
              <a:srgbClr val="42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023360" y="4389120"/>
            <a:ext cx="15087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96512" y="4407407"/>
            <a:ext cx="136245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C2026"/>
                </a:solidFill>
                <a:latin typeface="Aptos"/>
              </a:rPr>
              <a:t>Simulated Payment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532120" y="4732020"/>
            <a:ext cx="320040" cy="0"/>
          </a:xfrm>
          <a:prstGeom prst="line">
            <a:avLst/>
          </a:prstGeom>
          <a:ln w="19050">
            <a:solidFill>
              <a:srgbClr val="42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120640" y="4389120"/>
            <a:ext cx="15087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3792" y="4407407"/>
            <a:ext cx="136245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C2026"/>
                </a:solidFill>
                <a:latin typeface="Aptos"/>
              </a:rPr>
              <a:t>Confirmation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011680"/>
            <a:ext cx="4297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85B7A"/>
                </a:solidFill>
                <a:latin typeface="Aptos"/>
              </a:rPr>
              <a:t>Key runtime responsibilities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2651760"/>
            <a:ext cx="429768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26A76"/>
                </a:solidFill>
                <a:latin typeface="Aptos"/>
              </a:rPr>
              <a:t>• Authentication &amp; RBAC
• Permit processing
• Marketplace operations
• Payment recording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85B7A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1C2026"/>
                </a:solidFill>
                <a:latin typeface="Aptos"/>
              </a:rPr>
              <a:t>Development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26A76"/>
                </a:solidFill>
                <a:latin typeface="Aptos"/>
              </a:rPr>
              <a:t>How the Django codebase is organized for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98755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626A76"/>
                </a:solidFill>
                <a:latin typeface="Aptos"/>
              </a:rPr>
              <a:t>Django Applications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16916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84248"/>
            <a:ext cx="154533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C2026"/>
                </a:solidFill>
                <a:latin typeface="Aptos"/>
              </a:rPr>
              <a:t>accounts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965960"/>
            <a:ext cx="16916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62072" y="1984248"/>
            <a:ext cx="154533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C2026"/>
                </a:solidFill>
                <a:latin typeface="Aptos"/>
              </a:rPr>
              <a:t>locations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965960"/>
            <a:ext cx="16916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9472" y="1984248"/>
            <a:ext cx="154533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C2026"/>
                </a:solidFill>
                <a:latin typeface="Aptos"/>
              </a:rPr>
              <a:t>permits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965960"/>
            <a:ext cx="16916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76872" y="1984248"/>
            <a:ext cx="154533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C2026"/>
                </a:solidFill>
                <a:latin typeface="Aptos"/>
              </a:rPr>
              <a:t>marketplace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965960"/>
            <a:ext cx="16916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1984248"/>
            <a:ext cx="154533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C2026"/>
                </a:solidFill>
                <a:latin typeface="Aptos"/>
              </a:rPr>
              <a:t>payments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73552"/>
            <a:ext cx="98755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626A76"/>
                </a:solidFill>
                <a:latin typeface="Aptos"/>
              </a:rPr>
              <a:t>Project / Shared Components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16916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675887"/>
            <a:ext cx="154533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C2026"/>
                </a:solidFill>
                <a:latin typeface="Aptos"/>
              </a:rPr>
              <a:t>config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3657600"/>
            <a:ext cx="16916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62072" y="3675887"/>
            <a:ext cx="154533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C2026"/>
                </a:solidFill>
                <a:latin typeface="Aptos"/>
              </a:rPr>
              <a:t>templates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3657600"/>
            <a:ext cx="16916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9472" y="3675887"/>
            <a:ext cx="154533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C2026"/>
                </a:solidFill>
                <a:latin typeface="Aptos"/>
              </a:rPr>
              <a:t>static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3657600"/>
            <a:ext cx="16916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76872" y="3675887"/>
            <a:ext cx="154533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C2026"/>
                </a:solidFill>
                <a:latin typeface="Aptos"/>
              </a:rPr>
              <a:t>manage.py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3657600"/>
            <a:ext cx="16916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34272" y="3675887"/>
            <a:ext cx="1545336" cy="6492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C2026"/>
                </a:solidFill>
                <a:latin typeface="Aptos"/>
              </a:rPr>
              <a:t>PostgreSQL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26A76"/>
                </a:solidFill>
                <a:latin typeface="Aptos"/>
              </a:rPr>
              <a:t>Development view mirrors the repository structure and separates responsibilities by Django app.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85B7A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1C2026"/>
                </a:solidFill>
                <a:latin typeface="Aptos"/>
              </a:rPr>
              <a:t>Physical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26A76"/>
                </a:solidFill>
                <a:latin typeface="Aptos"/>
              </a:rPr>
              <a:t>Deployment perspective of the NirmanSathi web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21488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624328"/>
            <a:ext cx="2002536" cy="9235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C2026"/>
                </a:solidFill>
                <a:latin typeface="Aptos"/>
              </a:rPr>
              <a:t>User Device
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240280"/>
            <a:ext cx="27432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2258568"/>
            <a:ext cx="2596896" cy="1655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1C2026"/>
                </a:solidFill>
                <a:latin typeface="Aptos"/>
              </a:rPr>
              <a:t>Django Application
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2606040"/>
            <a:ext cx="21488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17152" y="2624328"/>
            <a:ext cx="2002536" cy="9235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C2026"/>
                </a:solidFill>
                <a:latin typeface="Aptos"/>
              </a:rPr>
              <a:t>PostgreSQL
Database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086100"/>
            <a:ext cx="1600200" cy="0"/>
          </a:xfrm>
          <a:prstGeom prst="line">
            <a:avLst/>
          </a:prstGeom>
          <a:ln w="19050">
            <a:solidFill>
              <a:srgbClr val="42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3086100"/>
            <a:ext cx="1828800" cy="0"/>
          </a:xfrm>
          <a:prstGeom prst="line">
            <a:avLst/>
          </a:prstGeom>
          <a:ln w="19050">
            <a:solidFill>
              <a:srgbClr val="427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00400" y="2724912"/>
            <a:ext cx="1143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626A76"/>
                </a:solidFill>
                <a:latin typeface="Aptos"/>
              </a:rPr>
              <a:t>HTTP / HTTPS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724912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626A76"/>
                </a:solidFill>
                <a:latin typeface="Aptos"/>
              </a:rPr>
              <a:t>DB connection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4754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C2026"/>
                </a:solidFill>
                <a:latin typeface="Aptos"/>
              </a:rPr>
              <a:t>Current deployment concept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64008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26A76"/>
                </a:solidFill>
                <a:latin typeface="Aptos"/>
              </a:rPr>
              <a:t>Browser → Django backend → PostgreSQL
Cloud/hosting details can be added when deployment is finalized.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85B7A"/>
                </a:solidFill>
                <a:latin typeface="Aptos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1C2026"/>
                </a:solidFill>
                <a:latin typeface="Aptos"/>
              </a:rPr>
              <a:t>Putting the views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26A76"/>
                </a:solidFill>
                <a:latin typeface="Aptos"/>
              </a:rPr>
              <a:t>One system, four perspectives.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1554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84248"/>
            <a:ext cx="140817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C2026"/>
                </a:solidFill>
                <a:latin typeface="Aptos"/>
              </a:rPr>
              <a:t>Logical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965960"/>
            <a:ext cx="42062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C2026"/>
                </a:solidFill>
                <a:latin typeface="Aptos"/>
              </a:rPr>
              <a:t>Business concepts &amp; relationships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1965960"/>
            <a:ext cx="4114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26A76"/>
                </a:solidFill>
                <a:latin typeface="Aptos"/>
              </a:rPr>
              <a:t>Class / domain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80360"/>
            <a:ext cx="1554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898648"/>
            <a:ext cx="140817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C2026"/>
                </a:solidFill>
                <a:latin typeface="Aptos"/>
              </a:rP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880360"/>
            <a:ext cx="42062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C2026"/>
                </a:solidFill>
                <a:latin typeface="Aptos"/>
              </a:rPr>
              <a:t>Runtime behavior &amp;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880360"/>
            <a:ext cx="4114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26A76"/>
                </a:solidFill>
                <a:latin typeface="Aptos"/>
              </a:rPr>
              <a:t>Permit + marketplace flows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94760"/>
            <a:ext cx="1554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813048"/>
            <a:ext cx="140817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C2026"/>
                </a:solidFill>
                <a:latin typeface="Aptos"/>
              </a:rPr>
              <a:t>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794760"/>
            <a:ext cx="42062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C2026"/>
                </a:solidFill>
                <a:latin typeface="Aptos"/>
              </a:rPr>
              <a:t>Code organization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794760"/>
            <a:ext cx="4114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26A76"/>
                </a:solidFill>
                <a:latin typeface="Aptos"/>
              </a:rPr>
              <a:t>Django apps &amp; shared components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709160"/>
            <a:ext cx="1554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7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727448"/>
            <a:ext cx="1408176" cy="5577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C2026"/>
                </a:solidFill>
                <a:latin typeface="Aptos"/>
              </a:rPr>
              <a:t>Physical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709160"/>
            <a:ext cx="42062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C2026"/>
                </a:solidFill>
                <a:latin typeface="Aptos"/>
              </a:rPr>
              <a:t>Deployment environment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709160"/>
            <a:ext cx="4114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26A76"/>
                </a:solidFill>
                <a:latin typeface="Aptos"/>
              </a:rPr>
              <a:t>Browser → Django → 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10607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626A76"/>
                </a:solidFill>
                <a:latin typeface="Aptos"/>
              </a:rPr>
              <a:t>These views complement the Use Case, ER, Activity, Sequence, and Class diagrams prepared for NirmanSathi.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