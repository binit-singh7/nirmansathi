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1143000"/>
            <a:ext cx="109728" cy="4023360"/>
          </a:xfrm>
          <a:prstGeom prst="rect">
            <a:avLst/>
          </a:prstGeom>
          <a:solidFill>
            <a:srgbClr val="3D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123444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182437"/>
                </a:solidFill>
                <a:latin typeface="Aptos"/>
              </a:defRPr>
            </a:pPr>
            <a:r>
              <a:t>NirmanSathi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19456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272F3B"/>
                </a:solidFill>
                <a:latin typeface="Aptos"/>
              </a:defRPr>
            </a:pPr>
            <a:r>
              <a:t>National Digital Construction Governance</a:t>
            </a:r>
            <a:br/>
            <a:r>
              <a:t>&amp; Marketplace Platform for Nepal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337560"/>
            <a:ext cx="2057400" cy="310896"/>
          </a:xfrm>
          <a:prstGeom prst="roundRect">
            <a:avLst/>
          </a:prstGeom>
          <a:solidFill>
            <a:srgbClr val="E8EFFB"/>
          </a:solidFill>
          <a:ln w="1397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D67B4"/>
                </a:solidFill>
                <a:latin typeface="Aptos"/>
              </a:defRPr>
            </a:pPr>
            <a:r>
              <a:t>SOFTWARE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8862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646E7C"/>
                </a:solidFill>
                <a:latin typeface="Aptos"/>
              </a:defRPr>
            </a:pPr>
            <a:r>
              <a:t>4+1 View Model • Current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709160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4B535F"/>
                </a:solidFill>
                <a:latin typeface="Aptos"/>
              </a:defRPr>
            </a:pPr>
            <a:r>
              <a:t>BCS CSIT Project • Django + Bootstrap + JavaScript + SQLite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58978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6E7C"/>
                </a:solidFill>
                <a:latin typeface="Aptos"/>
              </a:defRPr>
            </a:pPr>
            <a: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874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7"/>
                </a:solidFill>
                <a:latin typeface="Aptos Display"/>
              </a:defRPr>
            </a:pPr>
            <a:r>
              <a:t>1. System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Who uses NirmanSathi and what the platform provides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C"/>
                </a:solidFill>
                <a:latin typeface="Aptos"/>
              </a:defRPr>
            </a:pPr>
            <a:r>
              <a:t>NirmanSathi • Software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2011680" cy="713232"/>
          </a:xfrm>
          <a:prstGeom prst="roundRect">
            <a:avLst/>
          </a:prstGeom>
          <a:solidFill>
            <a:srgbClr val="E8EFFB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2F3B"/>
                </a:solidFill>
                <a:latin typeface="Aptos"/>
              </a:defRPr>
            </a:pPr>
            <a:r>
              <a:t>Citizen</a:t>
            </a:r>
          </a:p>
        </p:txBody>
      </p:sp>
      <p:cxnSp>
        <p:nvCxnSpPr>
          <p:cNvPr id="8" name="Connector 7"/>
          <p:cNvCxnSpPr>
            <a:cxnSpLocks/>
          </p:cNvCxnSpPr>
          <p:nvPr/>
        </p:nvCxnSpPr>
        <p:spPr>
          <a:xfrm>
            <a:off x="2788920" y="2093976"/>
            <a:ext cx="1088813" cy="0"/>
          </a:xfrm>
          <a:prstGeom prst="line">
            <a:avLst/>
          </a:prstGeom>
          <a:ln w="16510">
            <a:solidFill>
              <a:srgbClr val="3D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77240" y="2816352"/>
            <a:ext cx="2011680" cy="713232"/>
          </a:xfrm>
          <a:prstGeom prst="roundRect">
            <a:avLst/>
          </a:prstGeom>
          <a:solidFill>
            <a:srgbClr val="EFE9F7"/>
          </a:solidFill>
          <a:ln w="13970">
            <a:solidFill>
              <a:srgbClr val="6F5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2F3B"/>
                </a:solidFill>
                <a:latin typeface="Aptos"/>
              </a:defRPr>
            </a:pPr>
            <a:r>
              <a:t>Municipality</a:t>
            </a:r>
            <a:br/>
            <a:r>
              <a:t>Officer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88920" y="3172968"/>
            <a:ext cx="1005840" cy="0"/>
          </a:xfrm>
          <a:prstGeom prst="line">
            <a:avLst/>
          </a:prstGeom>
          <a:ln w="16510">
            <a:solidFill>
              <a:srgbClr val="3D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7240" y="3895344"/>
            <a:ext cx="2011680" cy="713232"/>
          </a:xfrm>
          <a:prstGeom prst="roundRect">
            <a:avLst/>
          </a:prstGeom>
          <a:solidFill>
            <a:srgbClr val="E8F5ED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2F3B"/>
                </a:solidFill>
                <a:latin typeface="Aptos"/>
              </a:defRPr>
            </a:pPr>
            <a:r>
              <a:t>Material</a:t>
            </a:r>
            <a:br/>
            <a:r>
              <a:t>Supplier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88920" y="4251960"/>
            <a:ext cx="1005840" cy="0"/>
          </a:xfrm>
          <a:prstGeom prst="line">
            <a:avLst/>
          </a:prstGeom>
          <a:ln w="16510">
            <a:solidFill>
              <a:srgbClr val="3D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4974336"/>
            <a:ext cx="2011680" cy="713232"/>
          </a:xfrm>
          <a:prstGeom prst="roundRect">
            <a:avLst/>
          </a:prstGeom>
          <a:solidFill>
            <a:srgbClr val="FAEFE0"/>
          </a:solidFill>
          <a:ln w="13970">
            <a:solidFill>
              <a:srgbClr val="CD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2F3B"/>
                </a:solidFill>
                <a:latin typeface="Aptos"/>
              </a:defRPr>
            </a:pPr>
            <a:r>
              <a:t>Administrator</a:t>
            </a:r>
          </a:p>
        </p:txBody>
      </p:sp>
      <p:cxnSp>
        <p:nvCxnSpPr>
          <p:cNvPr id="14" name="Connector 13"/>
          <p:cNvCxnSpPr>
            <a:cxnSpLocks/>
          </p:cNvCxnSpPr>
          <p:nvPr/>
        </p:nvCxnSpPr>
        <p:spPr>
          <a:xfrm>
            <a:off x="2788920" y="5330952"/>
            <a:ext cx="1088813" cy="0"/>
          </a:xfrm>
          <a:prstGeom prst="line">
            <a:avLst/>
          </a:prstGeom>
          <a:ln w="16510">
            <a:solidFill>
              <a:srgbClr val="3D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94760" y="1737360"/>
            <a:ext cx="4572000" cy="4023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72F3B"/>
                </a:solidFill>
                <a:latin typeface="Aptos"/>
              </a:defRPr>
            </a:pPr>
            <a:r>
              <a:t>NirmanSathi</a:t>
            </a:r>
            <a:br/>
            <a:br/>
            <a:r>
              <a:t>E-Governance + Marketplace</a:t>
            </a:r>
            <a:br/>
            <a:br/>
            <a:r>
              <a:t>Authentication / RBAC</a:t>
            </a:r>
            <a:br/>
            <a:r>
              <a:t>Permit Management</a:t>
            </a:r>
            <a:br/>
            <a:r>
              <a:t>Location Data</a:t>
            </a:r>
            <a:br/>
            <a:r>
              <a:t>Products • Cart • Orders</a:t>
            </a:r>
            <a:br/>
            <a:r>
              <a:t>Simulated Payment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737360"/>
            <a:ext cx="2103120" cy="914400"/>
          </a:xfrm>
          <a:prstGeom prst="roundRect">
            <a:avLst/>
          </a:prstGeom>
          <a:solidFill>
            <a:srgbClr val="E8EFFB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2F3B"/>
                </a:solidFill>
                <a:latin typeface="Aptos"/>
              </a:defRPr>
            </a:pPr>
            <a:r>
              <a:t>Permit</a:t>
            </a:r>
            <a:br/>
            <a:r>
              <a:t>Governance</a:t>
            </a:r>
          </a:p>
        </p:txBody>
      </p:sp>
      <p:cxnSp>
        <p:nvCxnSpPr>
          <p:cNvPr id="17" name="Connector 16"/>
          <p:cNvCxnSpPr>
            <a:cxnSpLocks/>
          </p:cNvCxnSpPr>
          <p:nvPr/>
        </p:nvCxnSpPr>
        <p:spPr>
          <a:xfrm>
            <a:off x="8305800" y="2194560"/>
            <a:ext cx="838200" cy="0"/>
          </a:xfrm>
          <a:prstGeom prst="line">
            <a:avLst/>
          </a:prstGeom>
          <a:ln w="1651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4000" y="3154680"/>
            <a:ext cx="2103120" cy="914400"/>
          </a:xfrm>
          <a:prstGeom prst="roundRect">
            <a:avLst/>
          </a:prstGeom>
          <a:solidFill>
            <a:srgbClr val="E8F5ED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2F3B"/>
                </a:solidFill>
                <a:latin typeface="Aptos"/>
              </a:defRPr>
            </a:pPr>
            <a:r>
              <a:t>Marketplace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66760" y="3611880"/>
            <a:ext cx="777240" cy="0"/>
          </a:xfrm>
          <a:prstGeom prst="line">
            <a:avLst/>
          </a:prstGeom>
          <a:ln w="1651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0" y="4572000"/>
            <a:ext cx="2103120" cy="914400"/>
          </a:xfrm>
          <a:prstGeom prst="roundRect">
            <a:avLst/>
          </a:prstGeom>
          <a:solidFill>
            <a:srgbClr val="FAEFE0"/>
          </a:solidFill>
          <a:ln w="13970">
            <a:solidFill>
              <a:srgbClr val="CD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2F3B"/>
                </a:solidFill>
                <a:latin typeface="Aptos"/>
              </a:defRPr>
            </a:pPr>
            <a:r>
              <a:t>Simulated</a:t>
            </a:r>
            <a:br/>
            <a:r>
              <a:t>Payment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66760" y="5029200"/>
            <a:ext cx="777240" cy="0"/>
          </a:xfrm>
          <a:prstGeom prst="line">
            <a:avLst/>
          </a:prstGeom>
          <a:ln w="1651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7"/>
                </a:solidFill>
                <a:latin typeface="Aptos Display"/>
              </a:defRPr>
            </a:pPr>
            <a:r>
              <a:t>2. 4+1 Architecture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Each view answers a different architectural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C"/>
                </a:solidFill>
                <a:latin typeface="Aptos"/>
              </a:defRPr>
            </a:pPr>
            <a:r>
              <a:t>NirmanSathi • Software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737360"/>
            <a:ext cx="2834640" cy="914400"/>
          </a:xfrm>
          <a:prstGeom prst="roundRect">
            <a:avLst/>
          </a:prstGeom>
          <a:solidFill>
            <a:srgbClr val="E8EFFB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2F3B"/>
                </a:solidFill>
                <a:latin typeface="Aptos"/>
              </a:defRPr>
            </a:pPr>
            <a:r>
              <a:t>LOGICAL VIEW</a:t>
            </a:r>
            <a:br/>
            <a:r>
              <a:t>What does the system do?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91840"/>
            <a:ext cx="2834640" cy="914400"/>
          </a:xfrm>
          <a:prstGeom prst="roundRect">
            <a:avLst/>
          </a:prstGeom>
          <a:solidFill>
            <a:srgbClr val="EFE9F7"/>
          </a:solidFill>
          <a:ln w="13970">
            <a:solidFill>
              <a:srgbClr val="6F5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2F3B"/>
                </a:solidFill>
                <a:latin typeface="Aptos"/>
              </a:defRPr>
            </a:pPr>
            <a:r>
              <a:t>DEVELOPMENT VIEW</a:t>
            </a:r>
            <a:br/>
            <a:r>
              <a:t>How is code organized?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291840"/>
            <a:ext cx="2834640" cy="914400"/>
          </a:xfrm>
          <a:prstGeom prst="roundRect">
            <a:avLst/>
          </a:prstGeom>
          <a:solidFill>
            <a:srgbClr val="E8F5ED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2F3B"/>
                </a:solidFill>
                <a:latin typeface="Aptos"/>
              </a:defRPr>
            </a:pPr>
            <a:r>
              <a:t>PROCESS VIEW</a:t>
            </a:r>
            <a:br/>
            <a:r>
              <a:t>How does it run?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4846320"/>
            <a:ext cx="2834640" cy="914400"/>
          </a:xfrm>
          <a:prstGeom prst="roundRect">
            <a:avLst/>
          </a:prstGeom>
          <a:solidFill>
            <a:srgbClr val="FAEFE0"/>
          </a:solidFill>
          <a:ln w="13970">
            <a:solidFill>
              <a:srgbClr val="CD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2F3B"/>
                </a:solidFill>
                <a:latin typeface="Aptos"/>
              </a:defRPr>
            </a:pPr>
            <a:r>
              <a:t>PHYSICAL VIEW</a:t>
            </a:r>
            <a:br/>
            <a:r>
              <a:t>Where does it run?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200400"/>
            <a:ext cx="283464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72F3B"/>
                </a:solidFill>
                <a:latin typeface="Aptos"/>
              </a:defRPr>
            </a:pPr>
            <a:r>
              <a:t>NirmanSathi</a:t>
            </a:r>
            <a:br/>
            <a:r>
              <a:t>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589788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82437"/>
                </a:solidFill>
                <a:latin typeface="Aptos"/>
              </a:defRPr>
            </a:pPr>
            <a:r>
              <a:t>+1 Scenario / Sequence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7"/>
                </a:solidFill>
                <a:latin typeface="Aptos Display"/>
              </a:defRPr>
            </a:pPr>
            <a:r>
              <a:t>3. Logical View — Master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Business capabilities and the security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C"/>
                </a:solidFill>
                <a:latin typeface="Aptos"/>
              </a:defRPr>
            </a:pPr>
            <a:r>
              <a:t>NirmanSathi • Software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2743200" cy="4389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72F3B"/>
                </a:solidFill>
                <a:latin typeface="Aptos"/>
              </a:defRPr>
            </a:pPr>
            <a:r>
              <a:t>CLIENT / UNTRUSTED</a:t>
            </a:r>
            <a:br/>
            <a:br/>
            <a:r>
              <a:t>Login</a:t>
            </a:r>
            <a:br/>
            <a:br/>
            <a:r>
              <a:t>Client-side role navigation</a:t>
            </a:r>
            <a:br/>
            <a:br/>
            <a:r>
              <a:t>Permit forms</a:t>
            </a:r>
            <a:br/>
            <a:r>
              <a:t>Marketplace UI</a:t>
            </a:r>
            <a:br/>
            <a:r>
              <a:t>Cart / Checkout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349240"/>
            <a:ext cx="1828800" cy="310896"/>
          </a:xfrm>
          <a:prstGeom prst="roundRect">
            <a:avLst/>
          </a:prstGeom>
          <a:solidFill>
            <a:srgbClr val="E8EFFB"/>
          </a:solidFill>
          <a:ln w="1397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D67B4"/>
                </a:solidFill>
                <a:latin typeface="Aptos"/>
              </a:defRPr>
            </a:pPr>
            <a:r>
              <a:t>JWT ACCESS TOKEN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1234440"/>
            <a:ext cx="7543800" cy="4983480"/>
          </a:xfrm>
          <a:prstGeom prst="rect">
            <a:avLst/>
          </a:prstGeom>
          <a:solidFill>
            <a:srgbClr val="F5F7FA"/>
          </a:solidFill>
          <a:ln w="2032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14173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82437"/>
                </a:solidFill>
                <a:latin typeface="Aptos"/>
              </a:defRPr>
            </a:pPr>
            <a:r>
              <a:t>SERVER / TRUSTED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74519"/>
            <a:ext cx="2057400" cy="685800"/>
          </a:xfrm>
          <a:prstGeom prst="roundRect">
            <a:avLst/>
          </a:prstGeom>
          <a:solidFill>
            <a:srgbClr val="E8EFFB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72F3B"/>
                </a:solidFill>
                <a:latin typeface="Aptos"/>
              </a:defRPr>
            </a:pPr>
            <a:r>
              <a:t>Authentication</a:t>
            </a:r>
            <a:br/>
            <a:r>
              <a:t>+ RBAC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874519"/>
            <a:ext cx="2057400" cy="685800"/>
          </a:xfrm>
          <a:prstGeom prst="roundRect">
            <a:avLst/>
          </a:prstGeom>
          <a:solidFill>
            <a:srgbClr val="E8EFFB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72F3B"/>
                </a:solidFill>
                <a:latin typeface="Aptos"/>
              </a:defRPr>
            </a:pPr>
            <a:r>
              <a:t>Permit Module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874519"/>
            <a:ext cx="2057400" cy="685800"/>
          </a:xfrm>
          <a:prstGeom prst="roundRect">
            <a:avLst/>
          </a:prstGeom>
          <a:solidFill>
            <a:srgbClr val="E8F5ED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72F3B"/>
                </a:solidFill>
                <a:latin typeface="Aptos"/>
              </a:defRPr>
            </a:pPr>
            <a:r>
              <a:t>Marketplace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3063240"/>
            <a:ext cx="2057400" cy="685800"/>
          </a:xfrm>
          <a:prstGeom prst="roundRect">
            <a:avLst/>
          </a:prstGeom>
          <a:solidFill>
            <a:srgbClr val="EFE9F7"/>
          </a:solidFill>
          <a:ln w="13970">
            <a:solidFill>
              <a:srgbClr val="6F5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72F3B"/>
                </a:solidFill>
                <a:latin typeface="Aptos"/>
              </a:defRPr>
            </a:pPr>
            <a:r>
              <a:t>Documents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3063240"/>
            <a:ext cx="2057400" cy="685800"/>
          </a:xfrm>
          <a:prstGeom prst="roundRect">
            <a:avLst/>
          </a:prstGeom>
          <a:solidFill>
            <a:srgbClr val="E8F5ED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72F3B"/>
                </a:solidFill>
                <a:latin typeface="Aptos"/>
              </a:defRPr>
            </a:pPr>
            <a:r>
              <a:t>Cart / Orders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251960"/>
            <a:ext cx="2057400" cy="685800"/>
          </a:xfrm>
          <a:prstGeom prst="roundRect">
            <a:avLst/>
          </a:prstGeom>
          <a:solidFill>
            <a:srgbClr val="EFE9F7"/>
          </a:solidFill>
          <a:ln w="13970">
            <a:solidFill>
              <a:srgbClr val="6F5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72F3B"/>
                </a:solidFill>
                <a:latin typeface="Aptos"/>
              </a:defRPr>
            </a:pPr>
            <a:r>
              <a:t>Officer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4251960"/>
            <a:ext cx="2057400" cy="685800"/>
          </a:xfrm>
          <a:prstGeom prst="roundRect">
            <a:avLst/>
          </a:prstGeom>
          <a:solidFill>
            <a:srgbClr val="FAEFE0"/>
          </a:solidFill>
          <a:ln w="13970">
            <a:solidFill>
              <a:srgbClr val="CD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72F3B"/>
                </a:solidFill>
                <a:latin typeface="Aptos"/>
              </a:defRPr>
            </a:pPr>
            <a:r>
              <a:t>Simulated Payment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5394960"/>
            <a:ext cx="205740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272F3B"/>
                </a:solidFill>
                <a:latin typeface="Aptos"/>
              </a:defRPr>
            </a:pPr>
            <a:r>
              <a:t>SQLite / ORM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429000" y="2212848"/>
            <a:ext cx="868680" cy="530352"/>
          </a:xfrm>
          <a:prstGeom prst="line">
            <a:avLst/>
          </a:prstGeom>
          <a:ln w="16510">
            <a:solidFill>
              <a:srgbClr val="3D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355080" y="2212848"/>
            <a:ext cx="365760" cy="0"/>
          </a:xfrm>
          <a:prstGeom prst="line">
            <a:avLst/>
          </a:prstGeom>
          <a:ln w="16510">
            <a:solidFill>
              <a:srgbClr val="3D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778240" y="2212848"/>
            <a:ext cx="365760" cy="0"/>
          </a:xfrm>
          <a:prstGeom prst="line">
            <a:avLst/>
          </a:prstGeom>
          <a:ln w="16510">
            <a:solidFill>
              <a:srgbClr val="35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754112" y="2560320"/>
            <a:ext cx="0" cy="502920"/>
          </a:xfrm>
          <a:prstGeom prst="line">
            <a:avLst/>
          </a:prstGeom>
          <a:ln w="16510">
            <a:solidFill>
              <a:srgbClr val="6F52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168128" y="2560320"/>
            <a:ext cx="0" cy="502920"/>
          </a:xfrm>
          <a:prstGeom prst="line">
            <a:avLst/>
          </a:prstGeom>
          <a:ln w="16510">
            <a:solidFill>
              <a:srgbClr val="35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54112" y="3749039"/>
            <a:ext cx="0" cy="502921"/>
          </a:xfrm>
          <a:prstGeom prst="line">
            <a:avLst/>
          </a:prstGeom>
          <a:ln w="16510">
            <a:solidFill>
              <a:srgbClr val="6F52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168128" y="3749039"/>
            <a:ext cx="0" cy="502921"/>
          </a:xfrm>
          <a:prstGeom prst="line">
            <a:avLst/>
          </a:prstGeom>
          <a:ln w="16510">
            <a:solidFill>
              <a:srgbClr val="CD7E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54112" y="4937760"/>
            <a:ext cx="0" cy="457200"/>
          </a:xfrm>
          <a:prstGeom prst="line">
            <a:avLst/>
          </a:prstGeom>
          <a:ln w="1651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8778240" y="4937760"/>
            <a:ext cx="1389888" cy="704088"/>
          </a:xfrm>
          <a:prstGeom prst="line">
            <a:avLst/>
          </a:prstGeom>
          <a:ln w="1651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7"/>
                </a:solidFill>
                <a:latin typeface="Aptos Display"/>
              </a:defRPr>
            </a:pPr>
            <a:r>
              <a:t>4. Logical View — Permit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Core e-governance business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C"/>
                </a:solidFill>
                <a:latin typeface="Aptos"/>
              </a:defRPr>
            </a:pPr>
            <a:r>
              <a:t>NirmanSathi • Software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965960" cy="914400"/>
          </a:xfrm>
          <a:prstGeom prst="roundRect">
            <a:avLst/>
          </a:prstGeom>
          <a:solidFill>
            <a:srgbClr val="E8EFFB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2F3B"/>
                </a:solidFill>
                <a:latin typeface="Aptos"/>
              </a:defRPr>
            </a:pPr>
            <a:r>
              <a:t>Create Application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06040" y="2377440"/>
            <a:ext cx="457200" cy="0"/>
          </a:xfrm>
          <a:prstGeom prst="line">
            <a:avLst/>
          </a:prstGeom>
          <a:ln w="1651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063239" y="1920240"/>
            <a:ext cx="1965960" cy="914400"/>
          </a:xfrm>
          <a:prstGeom prst="roundRect">
            <a:avLst/>
          </a:prstGeom>
          <a:solidFill>
            <a:srgbClr val="EFE9F7"/>
          </a:solidFill>
          <a:ln w="13970">
            <a:solidFill>
              <a:srgbClr val="6F5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2F3B"/>
                </a:solidFill>
                <a:latin typeface="Aptos"/>
              </a:defRPr>
            </a:pPr>
            <a:r>
              <a:t>Upload Documents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0" y="2377440"/>
            <a:ext cx="457200" cy="0"/>
          </a:xfrm>
          <a:prstGeom prst="line">
            <a:avLst/>
          </a:prstGeom>
          <a:ln w="1651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0" y="1920240"/>
            <a:ext cx="196596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2F3B"/>
                </a:solidFill>
                <a:latin typeface="Aptos"/>
              </a:defRPr>
            </a:pPr>
            <a:r>
              <a:t>Validate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52360" y="2377440"/>
            <a:ext cx="457200" cy="0"/>
          </a:xfrm>
          <a:prstGeom prst="line">
            <a:avLst/>
          </a:prstGeom>
          <a:ln w="1651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909559" y="1920240"/>
            <a:ext cx="1965960" cy="914400"/>
          </a:xfrm>
          <a:prstGeom prst="roundRect">
            <a:avLst/>
          </a:prstGeom>
          <a:solidFill>
            <a:srgbClr val="EFE9F7"/>
          </a:solidFill>
          <a:ln w="13970">
            <a:solidFill>
              <a:srgbClr val="6F5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2F3B"/>
                </a:solidFill>
                <a:latin typeface="Aptos"/>
              </a:defRPr>
            </a:pPr>
            <a:r>
              <a:t>Officer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566160"/>
            <a:ext cx="283464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72F3B"/>
                </a:solidFill>
                <a:latin typeface="Aptos"/>
              </a:defRPr>
            </a:pPr>
            <a:r>
              <a:t>Decision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6080760" y="2834640"/>
            <a:ext cx="2807208" cy="731520"/>
          </a:xfrm>
          <a:prstGeom prst="line">
            <a:avLst/>
          </a:prstGeom>
          <a:ln w="1651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4663440"/>
            <a:ext cx="2468880" cy="777240"/>
          </a:xfrm>
          <a:prstGeom prst="roundRect">
            <a:avLst/>
          </a:prstGeom>
          <a:solidFill>
            <a:srgbClr val="F9E8E8"/>
          </a:solidFill>
          <a:ln w="13970">
            <a:solidFill>
              <a:srgbClr val="B7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2F3B"/>
                </a:solidFill>
                <a:latin typeface="Aptos"/>
              </a:defRPr>
            </a:pPr>
            <a:r>
              <a:t>Correction /</a:t>
            </a:r>
            <a:br/>
            <a:r>
              <a:t>Resubmission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4663440"/>
            <a:ext cx="2468880" cy="777240"/>
          </a:xfrm>
          <a:prstGeom prst="roundRect">
            <a:avLst/>
          </a:prstGeom>
          <a:solidFill>
            <a:srgbClr val="E8F5ED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2F3B"/>
                </a:solidFill>
                <a:latin typeface="Aptos"/>
              </a:defRPr>
            </a:pPr>
            <a:r>
              <a:t>Approved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663440"/>
            <a:ext cx="2468880" cy="777240"/>
          </a:xfrm>
          <a:prstGeom prst="roundRect">
            <a:avLst/>
          </a:prstGeom>
          <a:solidFill>
            <a:srgbClr val="F9E8E8"/>
          </a:solidFill>
          <a:ln w="13970">
            <a:solidFill>
              <a:srgbClr val="B7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2F3B"/>
                </a:solidFill>
                <a:latin typeface="Aptos"/>
              </a:defRPr>
            </a:pPr>
            <a:r>
              <a:t>Rejected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148840" y="4297680"/>
            <a:ext cx="3931920" cy="365760"/>
          </a:xfrm>
          <a:prstGeom prst="line">
            <a:avLst/>
          </a:prstGeom>
          <a:ln w="16510">
            <a:solidFill>
              <a:srgbClr val="B7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806440" y="4297680"/>
            <a:ext cx="274320" cy="365760"/>
          </a:xfrm>
          <a:prstGeom prst="line">
            <a:avLst/>
          </a:prstGeom>
          <a:ln w="16510">
            <a:solidFill>
              <a:srgbClr val="35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80760" y="4297680"/>
            <a:ext cx="3383280" cy="365760"/>
          </a:xfrm>
          <a:prstGeom prst="line">
            <a:avLst/>
          </a:prstGeom>
          <a:ln w="16510">
            <a:solidFill>
              <a:srgbClr val="B7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5806440"/>
            <a:ext cx="9784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646E7C"/>
                </a:solidFill>
                <a:latin typeface="Aptos"/>
              </a:defRPr>
            </a:pPr>
            <a:r>
              <a:t>Outcome is persisted and exposed through permit status tracking.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7"/>
                </a:solidFill>
                <a:latin typeface="Aptos Display"/>
              </a:defRPr>
            </a:pPr>
            <a:r>
              <a:t>5. Logical View — Marketplace &amp; Payment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Cart, order and simulated payment remain separate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C"/>
                </a:solidFill>
                <a:latin typeface="Aptos"/>
              </a:defRPr>
            </a:pPr>
            <a:r>
              <a:t>NirmanSathi • Software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2148840" cy="868680"/>
          </a:xfrm>
          <a:prstGeom prst="roundRect">
            <a:avLst/>
          </a:prstGeom>
          <a:solidFill>
            <a:srgbClr val="E8F5ED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2F3B"/>
                </a:solidFill>
                <a:latin typeface="Aptos"/>
              </a:defRPr>
            </a:pPr>
            <a:r>
              <a:t>Product</a:t>
            </a:r>
            <a:br/>
            <a:r>
              <a:t>Catalogue</a:t>
            </a:r>
          </a:p>
        </p:txBody>
      </p:sp>
      <p:cxnSp>
        <p:nvCxnSpPr>
          <p:cNvPr id="8" name="Connector 7"/>
          <p:cNvCxnSpPr>
            <a:cxnSpLocks/>
            <a:endCxn id="9" idx="1"/>
          </p:cNvCxnSpPr>
          <p:nvPr/>
        </p:nvCxnSpPr>
        <p:spPr>
          <a:xfrm flipV="1">
            <a:off x="2743200" y="2263140"/>
            <a:ext cx="594360" cy="4572"/>
          </a:xfrm>
          <a:prstGeom prst="line">
            <a:avLst/>
          </a:prstGeom>
          <a:ln w="16510">
            <a:solidFill>
              <a:srgbClr val="35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37560" y="1828800"/>
            <a:ext cx="2148840" cy="868680"/>
          </a:xfrm>
          <a:prstGeom prst="roundRect">
            <a:avLst/>
          </a:prstGeom>
          <a:solidFill>
            <a:srgbClr val="E8F5ED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2F3B"/>
                </a:solidFill>
                <a:latin typeface="Aptos"/>
              </a:defRPr>
            </a:pPr>
            <a:r>
              <a:t>Cart</a:t>
            </a:r>
          </a:p>
        </p:txBody>
      </p:sp>
      <p:cxnSp>
        <p:nvCxnSpPr>
          <p:cNvPr id="10" name="Connector 9"/>
          <p:cNvCxnSpPr>
            <a:cxnSpLocks/>
            <a:stCxn id="9" idx="3"/>
            <a:endCxn id="11" idx="1"/>
          </p:cNvCxnSpPr>
          <p:nvPr/>
        </p:nvCxnSpPr>
        <p:spPr>
          <a:xfrm>
            <a:off x="5486400" y="2263140"/>
            <a:ext cx="594360" cy="0"/>
          </a:xfrm>
          <a:prstGeom prst="line">
            <a:avLst/>
          </a:prstGeom>
          <a:ln w="16510">
            <a:solidFill>
              <a:srgbClr val="35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80760" y="1828800"/>
            <a:ext cx="214884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2F3B"/>
                </a:solidFill>
                <a:latin typeface="Aptos"/>
              </a:defRPr>
            </a:pPr>
            <a:r>
              <a:t>Checkout</a:t>
            </a:r>
          </a:p>
        </p:txBody>
      </p:sp>
      <p:cxnSp>
        <p:nvCxnSpPr>
          <p:cNvPr id="12" name="Connector 11"/>
          <p:cNvCxnSpPr>
            <a:cxnSpLocks/>
            <a:endCxn id="13" idx="1"/>
          </p:cNvCxnSpPr>
          <p:nvPr/>
        </p:nvCxnSpPr>
        <p:spPr>
          <a:xfrm flipV="1">
            <a:off x="8229600" y="2263140"/>
            <a:ext cx="594360" cy="4572"/>
          </a:xfrm>
          <a:prstGeom prst="line">
            <a:avLst/>
          </a:prstGeom>
          <a:ln w="16510">
            <a:solidFill>
              <a:srgbClr val="35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823960" y="1828800"/>
            <a:ext cx="214884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2F3B"/>
                </a:solidFill>
                <a:latin typeface="Aptos"/>
              </a:defRPr>
            </a:pPr>
            <a:r>
              <a:t>Create</a:t>
            </a:r>
            <a:br/>
            <a:r>
              <a:t>Order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3749039"/>
            <a:ext cx="2377440" cy="914400"/>
          </a:xfrm>
          <a:prstGeom prst="roundRect">
            <a:avLst/>
          </a:prstGeom>
          <a:solidFill>
            <a:srgbClr val="FAEFE0"/>
          </a:solidFill>
          <a:ln w="13970">
            <a:solidFill>
              <a:srgbClr val="CD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72F3B"/>
                </a:solidFill>
                <a:latin typeface="Aptos"/>
              </a:defRPr>
            </a:pPr>
            <a:r>
              <a:t>Simulated Payment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20140" y="5532122"/>
            <a:ext cx="2377440" cy="685800"/>
          </a:xfrm>
          <a:prstGeom prst="roundRect">
            <a:avLst/>
          </a:prstGeom>
          <a:solidFill>
            <a:srgbClr val="F9E8E8"/>
          </a:solidFill>
          <a:ln w="13970">
            <a:solidFill>
              <a:srgbClr val="B7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72F3B"/>
                </a:solidFill>
                <a:latin typeface="Aptos"/>
              </a:defRPr>
            </a:pPr>
            <a:r>
              <a:t>Failure → PENDING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399" y="5458966"/>
            <a:ext cx="2377440" cy="685800"/>
          </a:xfrm>
          <a:prstGeom prst="roundRect">
            <a:avLst/>
          </a:prstGeom>
          <a:solidFill>
            <a:srgbClr val="E8F5ED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72F3B"/>
                </a:solidFill>
                <a:latin typeface="Aptos"/>
              </a:defRPr>
            </a:pPr>
            <a:r>
              <a:t>Success → PAID</a:t>
            </a:r>
          </a:p>
        </p:txBody>
      </p:sp>
      <p:cxnSp>
        <p:nvCxnSpPr>
          <p:cNvPr id="17" name="Connector 16"/>
          <p:cNvCxnSpPr>
            <a:cxnSpLocks/>
            <a:stCxn id="11" idx="2"/>
          </p:cNvCxnSpPr>
          <p:nvPr/>
        </p:nvCxnSpPr>
        <p:spPr>
          <a:xfrm flipH="1">
            <a:off x="4892040" y="2697480"/>
            <a:ext cx="2263140" cy="1051559"/>
          </a:xfrm>
          <a:prstGeom prst="line">
            <a:avLst/>
          </a:prstGeom>
          <a:ln w="16510">
            <a:solidFill>
              <a:srgbClr val="CD7E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cxnSpLocks/>
            <a:endCxn id="15" idx="0"/>
          </p:cNvCxnSpPr>
          <p:nvPr/>
        </p:nvCxnSpPr>
        <p:spPr>
          <a:xfrm flipH="1">
            <a:off x="2308860" y="4663440"/>
            <a:ext cx="2583180" cy="868682"/>
          </a:xfrm>
          <a:prstGeom prst="line">
            <a:avLst/>
          </a:prstGeom>
          <a:ln w="16510">
            <a:solidFill>
              <a:srgbClr val="B7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cxnSpLocks/>
            <a:endCxn id="16" idx="0"/>
          </p:cNvCxnSpPr>
          <p:nvPr/>
        </p:nvCxnSpPr>
        <p:spPr>
          <a:xfrm>
            <a:off x="4892040" y="4663440"/>
            <a:ext cx="4069079" cy="795526"/>
          </a:xfrm>
          <a:prstGeom prst="line">
            <a:avLst/>
          </a:prstGeom>
          <a:ln w="16510">
            <a:solidFill>
              <a:srgbClr val="35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79" y="3749039"/>
            <a:ext cx="2651760" cy="914400"/>
          </a:xfrm>
          <a:prstGeom prst="roundRect">
            <a:avLst/>
          </a:prstGeom>
          <a:solidFill>
            <a:srgbClr val="E8F5ED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2F3B"/>
                </a:solidFill>
                <a:latin typeface="Aptos"/>
              </a:defRPr>
            </a:pPr>
            <a:r>
              <a:t>Order Status</a:t>
            </a:r>
            <a:br/>
            <a:r>
              <a:t>Confirmed / Pending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4206240"/>
            <a:ext cx="1417319" cy="0"/>
          </a:xfrm>
          <a:prstGeom prst="line">
            <a:avLst/>
          </a:prstGeom>
          <a:ln w="1651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7"/>
                </a:solidFill>
                <a:latin typeface="Aptos Display"/>
              </a:defRPr>
            </a:pPr>
            <a:r>
              <a:t>6. Process View — Runtime Request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Browser request through the Django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C"/>
                </a:solidFill>
                <a:latin typeface="Aptos"/>
              </a:defRPr>
            </a:pPr>
            <a:r>
              <a:t>NirmanSathi • Software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57400"/>
            <a:ext cx="1234440" cy="914400"/>
          </a:xfrm>
          <a:prstGeom prst="roundRect">
            <a:avLst/>
          </a:prstGeom>
          <a:solidFill>
            <a:srgbClr val="E8EFFB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Browser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91640" y="2514600"/>
            <a:ext cx="137160" cy="0"/>
          </a:xfrm>
          <a:prstGeom prst="line">
            <a:avLst/>
          </a:prstGeom>
          <a:ln w="1270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847088" y="2057400"/>
            <a:ext cx="123444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URL Router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81528" y="2514600"/>
            <a:ext cx="137160" cy="0"/>
          </a:xfrm>
          <a:prstGeom prst="line">
            <a:avLst/>
          </a:prstGeom>
          <a:ln w="1270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36976" y="2057400"/>
            <a:ext cx="123444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Middleware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71416" y="2514600"/>
            <a:ext cx="137160" cy="0"/>
          </a:xfrm>
          <a:prstGeom prst="line">
            <a:avLst/>
          </a:prstGeom>
          <a:ln w="1270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26864" y="2057400"/>
            <a:ext cx="1234440" cy="914400"/>
          </a:xfrm>
          <a:prstGeom prst="roundRect">
            <a:avLst/>
          </a:prstGeom>
          <a:solidFill>
            <a:srgbClr val="E8EFFB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JWT Auth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61304" y="2514600"/>
            <a:ext cx="137160" cy="0"/>
          </a:xfrm>
          <a:prstGeom prst="line">
            <a:avLst/>
          </a:prstGeom>
          <a:ln w="1270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016752" y="2057400"/>
            <a:ext cx="123444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Permission</a:t>
            </a:r>
            <a:br/>
            <a:r>
              <a:t>Check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51192" y="2514600"/>
            <a:ext cx="137160" cy="0"/>
          </a:xfrm>
          <a:prstGeom prst="line">
            <a:avLst/>
          </a:prstGeom>
          <a:ln w="1270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06640" y="2057400"/>
            <a:ext cx="123444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ViewSet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41080" y="2514600"/>
            <a:ext cx="137160" cy="0"/>
          </a:xfrm>
          <a:prstGeom prst="line">
            <a:avLst/>
          </a:prstGeom>
          <a:ln w="1270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796528" y="2057400"/>
            <a:ext cx="123444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Serializer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30967" y="2514600"/>
            <a:ext cx="137161" cy="0"/>
          </a:xfrm>
          <a:prstGeom prst="line">
            <a:avLst/>
          </a:prstGeom>
          <a:ln w="1270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186415" y="2057400"/>
            <a:ext cx="123444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ORM</a:t>
            </a:r>
          </a:p>
        </p:txBody>
      </p:sp>
      <p:cxnSp>
        <p:nvCxnSpPr>
          <p:cNvPr id="22" name="Connector 21"/>
          <p:cNvCxnSpPr>
            <a:cxnSpLocks/>
            <a:stCxn id="23" idx="0"/>
            <a:endCxn id="21" idx="2"/>
          </p:cNvCxnSpPr>
          <p:nvPr/>
        </p:nvCxnSpPr>
        <p:spPr>
          <a:xfrm flipV="1">
            <a:off x="10803635" y="2971800"/>
            <a:ext cx="0" cy="246888"/>
          </a:xfrm>
          <a:prstGeom prst="line">
            <a:avLst/>
          </a:prstGeom>
          <a:ln w="1270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186415" y="3218688"/>
            <a:ext cx="1234440" cy="914400"/>
          </a:xfrm>
          <a:prstGeom prst="roundRect">
            <a:avLst/>
          </a:prstGeom>
          <a:solidFill>
            <a:srgbClr val="FAEFE0"/>
          </a:solidFill>
          <a:ln w="13970">
            <a:solidFill>
              <a:srgbClr val="CD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657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D67B4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657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F529D"/>
                </a:solidFill>
                <a:latin typeface="Aptos"/>
              </a:defRPr>
            </a:pPr>
            <a:r>
              <a:t>AUTHORIZATION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657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CD7E28"/>
                </a:solidFill>
                <a:latin typeface="Aptos"/>
              </a:defRPr>
            </a:pPr>
            <a:r>
              <a:t>PERSISTENCE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11680" y="4572000"/>
            <a:ext cx="813816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72F3B"/>
                </a:solidFill>
                <a:latin typeface="Aptos"/>
              </a:defRPr>
            </a:pPr>
            <a:r>
              <a:t>Response: ViewSet → Serializer → JSON Response → Browser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7"/>
                </a:solidFill>
                <a:latin typeface="Aptos Display"/>
              </a:defRPr>
            </a:pPr>
            <a:r>
              <a:t>7. Process View — Authentication &amp; RBAC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Navigation and authorization are intentionally separated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C"/>
                </a:solidFill>
                <a:latin typeface="Aptos"/>
              </a:defRPr>
            </a:pPr>
            <a:r>
              <a:t>NirmanSathi • Software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1417320" cy="914400"/>
          </a:xfrm>
          <a:prstGeom prst="roundRect">
            <a:avLst/>
          </a:prstGeom>
          <a:solidFill>
            <a:srgbClr val="E8EFFB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Login Form</a:t>
            </a:r>
          </a:p>
        </p:txBody>
      </p:sp>
      <p:cxnSp>
        <p:nvCxnSpPr>
          <p:cNvPr id="8" name="Connector 7"/>
          <p:cNvCxnSpPr>
            <a:cxnSpLocks/>
            <a:endCxn id="9" idx="1"/>
          </p:cNvCxnSpPr>
          <p:nvPr/>
        </p:nvCxnSpPr>
        <p:spPr>
          <a:xfrm>
            <a:off x="1920240" y="2514600"/>
            <a:ext cx="274320" cy="0"/>
          </a:xfrm>
          <a:prstGeom prst="line">
            <a:avLst/>
          </a:prstGeom>
          <a:ln w="1270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94560" y="2057400"/>
            <a:ext cx="141732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POST /login/</a:t>
            </a:r>
          </a:p>
        </p:txBody>
      </p:sp>
      <p:cxnSp>
        <p:nvCxnSpPr>
          <p:cNvPr id="10" name="Connector 9"/>
          <p:cNvCxnSpPr>
            <a:cxnSpLocks/>
            <a:endCxn id="11" idx="1"/>
          </p:cNvCxnSpPr>
          <p:nvPr/>
        </p:nvCxnSpPr>
        <p:spPr>
          <a:xfrm>
            <a:off x="3611880" y="2514600"/>
            <a:ext cx="274320" cy="0"/>
          </a:xfrm>
          <a:prstGeom prst="line">
            <a:avLst/>
          </a:prstGeom>
          <a:ln w="1270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86200" y="2057400"/>
            <a:ext cx="141732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TokenObtain</a:t>
            </a:r>
            <a:br/>
            <a:r>
              <a:t>PairView</a:t>
            </a:r>
          </a:p>
        </p:txBody>
      </p:sp>
      <p:cxnSp>
        <p:nvCxnSpPr>
          <p:cNvPr id="12" name="Connector 11"/>
          <p:cNvCxnSpPr>
            <a:cxnSpLocks/>
            <a:endCxn id="13" idx="1"/>
          </p:cNvCxnSpPr>
          <p:nvPr/>
        </p:nvCxnSpPr>
        <p:spPr>
          <a:xfrm>
            <a:off x="5303520" y="2514600"/>
            <a:ext cx="274320" cy="0"/>
          </a:xfrm>
          <a:prstGeom prst="line">
            <a:avLst/>
          </a:prstGeom>
          <a:ln w="1270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2057400"/>
            <a:ext cx="1417320" cy="914400"/>
          </a:xfrm>
          <a:prstGeom prst="roundRect">
            <a:avLst/>
          </a:prstGeom>
          <a:solidFill>
            <a:srgbClr val="E8EFFB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JWT Access +</a:t>
            </a:r>
            <a:br/>
            <a:r>
              <a:t>Refresh</a:t>
            </a:r>
          </a:p>
        </p:txBody>
      </p:sp>
      <p:cxnSp>
        <p:nvCxnSpPr>
          <p:cNvPr id="14" name="Connector 13"/>
          <p:cNvCxnSpPr>
            <a:cxnSpLocks/>
            <a:endCxn id="15" idx="1"/>
          </p:cNvCxnSpPr>
          <p:nvPr/>
        </p:nvCxnSpPr>
        <p:spPr>
          <a:xfrm>
            <a:off x="6995159" y="2514600"/>
            <a:ext cx="274320" cy="0"/>
          </a:xfrm>
          <a:prstGeom prst="line">
            <a:avLst/>
          </a:prstGeom>
          <a:ln w="1270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69479" y="2057400"/>
            <a:ext cx="141732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GET /me/</a:t>
            </a:r>
          </a:p>
        </p:txBody>
      </p:sp>
      <p:cxnSp>
        <p:nvCxnSpPr>
          <p:cNvPr id="16" name="Connector 15"/>
          <p:cNvCxnSpPr>
            <a:cxnSpLocks/>
            <a:endCxn id="17" idx="1"/>
          </p:cNvCxnSpPr>
          <p:nvPr/>
        </p:nvCxnSpPr>
        <p:spPr>
          <a:xfrm>
            <a:off x="8686800" y="2514600"/>
            <a:ext cx="274319" cy="0"/>
          </a:xfrm>
          <a:prstGeom prst="line">
            <a:avLst/>
          </a:prstGeom>
          <a:ln w="1270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961119" y="2057400"/>
            <a:ext cx="1417320" cy="914400"/>
          </a:xfrm>
          <a:prstGeom prst="roundRect">
            <a:avLst/>
          </a:prstGeom>
          <a:solidFill>
            <a:srgbClr val="E8F5ED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Role</a:t>
            </a:r>
            <a:br/>
            <a:r>
              <a:t>Resolved</a:t>
            </a:r>
          </a:p>
        </p:txBody>
      </p:sp>
      <p:cxnSp>
        <p:nvCxnSpPr>
          <p:cNvPr id="18" name="Connector 17"/>
          <p:cNvCxnSpPr>
            <a:cxnSpLocks/>
            <a:endCxn id="19" idx="1"/>
          </p:cNvCxnSpPr>
          <p:nvPr/>
        </p:nvCxnSpPr>
        <p:spPr>
          <a:xfrm>
            <a:off x="10378440" y="2514600"/>
            <a:ext cx="274319" cy="0"/>
          </a:xfrm>
          <a:prstGeom prst="line">
            <a:avLst/>
          </a:prstGeom>
          <a:ln w="12700">
            <a:solidFill>
              <a:srgbClr val="18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652759" y="2057400"/>
            <a:ext cx="1417320" cy="914400"/>
          </a:xfrm>
          <a:prstGeom prst="roundRect">
            <a:avLst/>
          </a:prstGeom>
          <a:solidFill>
            <a:srgbClr val="E8F5ED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Dashboard</a:t>
            </a:r>
            <a:br/>
            <a:r>
              <a:t>Navigation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114800"/>
            <a:ext cx="4389120" cy="914400"/>
          </a:xfrm>
          <a:prstGeom prst="roundRect">
            <a:avLst/>
          </a:prstGeom>
          <a:solidFill>
            <a:srgbClr val="E8EFFB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2F3B"/>
                </a:solidFill>
                <a:latin typeface="Aptos"/>
              </a:defRPr>
            </a:pPr>
            <a:r>
              <a:t>CLIENT-SIDE</a:t>
            </a:r>
            <a:br/>
            <a:r>
              <a:t>Role redirect is navigation only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114800"/>
            <a:ext cx="4389120" cy="914400"/>
          </a:xfrm>
          <a:prstGeom prst="roundRect">
            <a:avLst/>
          </a:prstGeom>
          <a:solidFill>
            <a:srgbClr val="EFE9F7"/>
          </a:solidFill>
          <a:ln w="13970">
            <a:solidFill>
              <a:srgbClr val="6F5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2F3B"/>
                </a:solidFill>
                <a:latin typeface="Aptos"/>
              </a:defRPr>
            </a:pPr>
            <a:r>
              <a:t>SERVER-SIDE</a:t>
            </a:r>
            <a:br/>
            <a:r>
              <a:t>JWT authentication + permission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532120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6E7C"/>
                </a:solidFill>
                <a:latin typeface="Aptos"/>
              </a:defRPr>
            </a:pPr>
            <a:r>
              <a:t>Every protected API request is authorized at the server boundary.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Development View — Full Development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5C6874"/>
                </a:solidFill>
              </a:defRPr>
            </a:pPr>
            <a:r>
              <a:t>How frontend, backend modules, API integration and persistence are developed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514600" cy="4480560"/>
          </a:xfrm>
          <a:prstGeom prst="roundRect">
            <a:avLst/>
          </a:prstGeom>
          <a:solidFill>
            <a:srgbClr val="EFF4FB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FRONTEND DEVELOPMENT</a:t>
            </a:r>
            <a:br/>
            <a:br/>
            <a:r>
              <a:t>HTML Templates</a:t>
            </a:r>
            <a:br/>
            <a:r>
              <a:t>Bootstrap UI</a:t>
            </a:r>
            <a:br/>
            <a:r>
              <a:t>JavaScript</a:t>
            </a:r>
            <a:br/>
            <a:r>
              <a:t>CSS / Static Assets</a:t>
            </a:r>
            <a:br/>
            <a:br/>
            <a:r>
              <a:t>User interaction</a:t>
            </a:r>
            <a:br/>
            <a:r>
              <a:t>↓</a:t>
            </a:r>
            <a:br/>
            <a:r>
              <a:t>HTTP / REST requests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25880"/>
            <a:ext cx="46634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9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BACKEND DEVELOPMENT</a:t>
            </a:r>
            <a:br/>
            <a:br/>
            <a:r>
              <a:t>config/</a:t>
            </a:r>
            <a:br/>
            <a:r>
              <a:t>settings.py • urls.py</a:t>
            </a:r>
            <a:br/>
            <a:br/>
            <a:r>
              <a:t>Django Apps</a:t>
            </a:r>
            <a:br/>
            <a:r>
              <a:t>accounts • locations</a:t>
            </a:r>
            <a:br/>
            <a:r>
              <a:t>permits • marketplace • payments</a:t>
            </a:r>
            <a:br/>
            <a:br/>
            <a:r>
              <a:t>Inside apps:</a:t>
            </a:r>
            <a:br/>
            <a:r>
              <a:t>models.py • serializers.py</a:t>
            </a:r>
            <a:br/>
            <a:r>
              <a:t>views.py • urls.py</a:t>
            </a:r>
            <a:br/>
            <a:r>
              <a:t>permissions.py where used</a:t>
            </a:r>
            <a:br/>
            <a:br/>
            <a:r>
              <a:t>Django REST Framework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325880"/>
            <a:ext cx="320040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DATA / PERSISTENCE</a:t>
            </a:r>
            <a:br/>
            <a:br/>
            <a:r>
              <a:t>Django ORM</a:t>
            </a:r>
            <a:br/>
            <a:r>
              <a:t>↓</a:t>
            </a:r>
            <a:br/>
            <a:r>
              <a:t>db.sqlite3</a:t>
            </a:r>
            <a:br/>
            <a:br/>
            <a:r>
              <a:t>Current development 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3566160"/>
            <a:ext cx="320040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7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DEVELOPMENT RESOURCES</a:t>
            </a:r>
            <a:br/>
            <a:br/>
            <a:r>
              <a:t>templates/</a:t>
            </a:r>
            <a:br/>
            <a:r>
              <a:t>static/</a:t>
            </a:r>
            <a:br/>
            <a:r>
              <a:t>media/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5074920"/>
            <a:ext cx="32004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C6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Git / GitHub</a:t>
            </a:r>
            <a:br/>
            <a:r>
              <a:t>Version control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3566160"/>
            <a:ext cx="411480" cy="0"/>
          </a:xfrm>
          <a:prstGeom prst="line">
            <a:avLst/>
          </a:prstGeom>
          <a:ln w="1778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83180" y="34198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C6874"/>
                </a:solidFill>
              </a:defRPr>
            </a:pPr>
            <a:r>
              <a:t>HTTP / API</a:t>
            </a:r>
          </a:p>
        </p:txBody>
      </p:sp>
      <p:cxnSp>
        <p:nvCxnSpPr>
          <p:cNvPr id="12" name="Connector 11"/>
          <p:cNvCxnSpPr>
            <a:cxnSpLocks/>
            <a:stCxn id="6" idx="3"/>
          </p:cNvCxnSpPr>
          <p:nvPr/>
        </p:nvCxnSpPr>
        <p:spPr>
          <a:xfrm flipV="1">
            <a:off x="8092440" y="2286000"/>
            <a:ext cx="365760" cy="1280160"/>
          </a:xfrm>
          <a:prstGeom prst="line">
            <a:avLst/>
          </a:prstGeom>
          <a:ln w="1778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635240" y="27340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C6874"/>
                </a:solidFill>
              </a:defRPr>
            </a:pPr>
            <a:r>
              <a:t>ORM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92440" y="4114800"/>
            <a:ext cx="365760" cy="0"/>
          </a:xfrm>
          <a:prstGeom prst="line">
            <a:avLst/>
          </a:prstGeom>
          <a:ln w="1778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35240" y="39090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C6874"/>
                </a:solidFill>
              </a:defRPr>
            </a:pPr>
            <a:r>
              <a:t>render / serve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3420" y="54772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C6874"/>
                </a:solidFill>
              </a:defRPr>
            </a:pPr>
            <a:r>
              <a:t>source changes tracked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C6874"/>
                </a:solidFill>
              </a:defRPr>
            </a:pPr>
            <a:r>
              <a:t>Development flow: UI implementation → API integration → Django business logic → ORM persistence → testing / iteration. PostgreSQL, Gunicorn and cloud deployment are future only.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874"/>
                </a:solidFill>
              </a:defRPr>
            </a:pPr>
            <a:r>
              <a:t>9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965D367-6D9D-027A-D36A-9FE214A0B5EE}"/>
              </a:ext>
            </a:extLst>
          </p:cNvPr>
          <p:cNvSpPr/>
          <p:nvPr/>
        </p:nvSpPr>
        <p:spPr>
          <a:xfrm>
            <a:off x="1394416" y="5806439"/>
            <a:ext cx="9766767" cy="964029"/>
          </a:xfrm>
          <a:custGeom>
            <a:avLst/>
            <a:gdLst>
              <a:gd name="csX0" fmla="*/ 34889 w 9786531"/>
              <a:gd name="csY0" fmla="*/ 17755 h 991106"/>
              <a:gd name="csX1" fmla="*/ 1384295 w 9786531"/>
              <a:gd name="csY1" fmla="*/ 958788 h 991106"/>
              <a:gd name="csX2" fmla="*/ 9072357 w 9786531"/>
              <a:gd name="csY2" fmla="*/ 701336 h 991106"/>
              <a:gd name="csX3" fmla="*/ 8992458 w 9786531"/>
              <a:gd name="csY3" fmla="*/ 0 h 991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786531" h="991106">
                <a:moveTo>
                  <a:pt x="34889" y="17755"/>
                </a:moveTo>
                <a:cubicBezTo>
                  <a:pt x="-43531" y="431306"/>
                  <a:pt x="-121950" y="844858"/>
                  <a:pt x="1384295" y="958788"/>
                </a:cubicBezTo>
                <a:cubicBezTo>
                  <a:pt x="2890540" y="1072718"/>
                  <a:pt x="7804330" y="861134"/>
                  <a:pt x="9072357" y="701336"/>
                </a:cubicBezTo>
                <a:cubicBezTo>
                  <a:pt x="10340384" y="541538"/>
                  <a:pt x="9666421" y="270769"/>
                  <a:pt x="8992458" y="0"/>
                </a:cubicBezTo>
              </a:path>
            </a:pathLst>
          </a:cu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16">
            <a:extLst>
              <a:ext uri="{FF2B5EF4-FFF2-40B4-BE49-F238E27FC236}">
                <a16:creationId xmlns:a16="http://schemas.microsoft.com/office/drawing/2014/main" id="{7B6889C1-E821-AE76-2831-9761544B93AA}"/>
              </a:ext>
            </a:extLst>
          </p:cNvPr>
          <p:cNvSpPr txBox="1"/>
          <p:nvPr/>
        </p:nvSpPr>
        <p:spPr>
          <a:xfrm>
            <a:off x="543560" y="147317"/>
            <a:ext cx="11064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42B4C"/>
                </a:solidFill>
                <a:latin typeface="Aptos"/>
              </a:rPr>
              <a:t>Development View — NirmanSathi Development Process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C682DF3-C805-411D-2E50-C0643675D8C0}"/>
              </a:ext>
            </a:extLst>
          </p:cNvPr>
          <p:cNvSpPr txBox="1"/>
          <p:nvPr/>
        </p:nvSpPr>
        <p:spPr>
          <a:xfrm>
            <a:off x="561848" y="586229"/>
            <a:ext cx="109728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6976"/>
                </a:solidFill>
                <a:latin typeface="Aptos"/>
              </a:rPr>
              <a:t>High-level development approach from requirements and design to implementation, integration, testing and version-controlled documentation</a:t>
            </a:r>
          </a:p>
        </p:txBody>
      </p:sp>
      <p:sp>
        <p:nvSpPr>
          <p:cNvPr id="119" name="Rounded Rectangle 3">
            <a:extLst>
              <a:ext uri="{FF2B5EF4-FFF2-40B4-BE49-F238E27FC236}">
                <a16:creationId xmlns:a16="http://schemas.microsoft.com/office/drawing/2014/main" id="{DC60BFBB-7C96-4549-085A-0E3190F59169}"/>
              </a:ext>
            </a:extLst>
          </p:cNvPr>
          <p:cNvSpPr/>
          <p:nvPr/>
        </p:nvSpPr>
        <p:spPr>
          <a:xfrm>
            <a:off x="635000" y="1061717"/>
            <a:ext cx="242316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54864" rtlCol="0" anchor="ctr"/>
          <a:lstStyle/>
          <a:p>
            <a:pPr algn="ctr"/>
            <a:r>
              <a:rPr sz="1500" b="1">
                <a:solidFill>
                  <a:srgbClr val="142B4C"/>
                </a:solidFill>
                <a:latin typeface="Aptos"/>
              </a:rPr>
              <a:t>Requirements / SRS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5F6976"/>
                </a:solidFill>
                <a:latin typeface="Aptos"/>
              </a:rPr>
              <a:t>Functional &amp; non-functional requirements</a:t>
            </a:r>
          </a:p>
        </p:txBody>
      </p:sp>
      <p:sp>
        <p:nvSpPr>
          <p:cNvPr id="120" name="Rounded Rectangle 4">
            <a:extLst>
              <a:ext uri="{FF2B5EF4-FFF2-40B4-BE49-F238E27FC236}">
                <a16:creationId xmlns:a16="http://schemas.microsoft.com/office/drawing/2014/main" id="{462C776F-25D7-0816-DB01-F5592F3C0D8C}"/>
              </a:ext>
            </a:extLst>
          </p:cNvPr>
          <p:cNvSpPr/>
          <p:nvPr/>
        </p:nvSpPr>
        <p:spPr>
          <a:xfrm>
            <a:off x="3743960" y="1061717"/>
            <a:ext cx="242316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84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54864" rtlCol="0" anchor="ctr"/>
          <a:lstStyle/>
          <a:p>
            <a:pPr algn="ctr"/>
            <a:r>
              <a:rPr sz="1500" b="1">
                <a:solidFill>
                  <a:srgbClr val="142B4C"/>
                </a:solidFill>
                <a:latin typeface="Aptos"/>
              </a:rPr>
              <a:t>System &amp; UI Design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5F6976"/>
                </a:solidFill>
                <a:latin typeface="Aptos"/>
              </a:rPr>
              <a:t>Design before implementation</a:t>
            </a:r>
          </a:p>
        </p:txBody>
      </p:sp>
      <p:cxnSp>
        <p:nvCxnSpPr>
          <p:cNvPr id="121" name="Connector 5">
            <a:extLst>
              <a:ext uri="{FF2B5EF4-FFF2-40B4-BE49-F238E27FC236}">
                <a16:creationId xmlns:a16="http://schemas.microsoft.com/office/drawing/2014/main" id="{9188C5D5-80E0-E3F0-7A98-AB5768F1612C}"/>
              </a:ext>
            </a:extLst>
          </p:cNvPr>
          <p:cNvCxnSpPr/>
          <p:nvPr/>
        </p:nvCxnSpPr>
        <p:spPr>
          <a:xfrm>
            <a:off x="3058160" y="1418333"/>
            <a:ext cx="685800" cy="0"/>
          </a:xfrm>
          <a:prstGeom prst="line">
            <a:avLst/>
          </a:prstGeom>
          <a:ln w="20320">
            <a:solidFill>
              <a:srgbClr val="2F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ounded Rectangle 6">
            <a:extLst>
              <a:ext uri="{FF2B5EF4-FFF2-40B4-BE49-F238E27FC236}">
                <a16:creationId xmlns:a16="http://schemas.microsoft.com/office/drawing/2014/main" id="{471A347E-FD27-6952-5771-A3EA1B1B845C}"/>
              </a:ext>
            </a:extLst>
          </p:cNvPr>
          <p:cNvSpPr/>
          <p:nvPr/>
        </p:nvSpPr>
        <p:spPr>
          <a:xfrm>
            <a:off x="1366520" y="2021837"/>
            <a:ext cx="9372600" cy="1938528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D51ED52-FC14-BAD6-368A-70655125612B}"/>
              </a:ext>
            </a:extLst>
          </p:cNvPr>
          <p:cNvSpPr txBox="1"/>
          <p:nvPr/>
        </p:nvSpPr>
        <p:spPr>
          <a:xfrm>
            <a:off x="1640840" y="2131565"/>
            <a:ext cx="8823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42B4C"/>
                </a:solidFill>
                <a:latin typeface="Aptos"/>
              </a:rPr>
              <a:t>PARALLEL IMPLEMENTATION</a:t>
            </a:r>
          </a:p>
        </p:txBody>
      </p:sp>
      <p:cxnSp>
        <p:nvCxnSpPr>
          <p:cNvPr id="124" name="Connector 8">
            <a:extLst>
              <a:ext uri="{FF2B5EF4-FFF2-40B4-BE49-F238E27FC236}">
                <a16:creationId xmlns:a16="http://schemas.microsoft.com/office/drawing/2014/main" id="{63AFFD61-2F16-F182-3EAB-4DA5428770F5}"/>
              </a:ext>
            </a:extLst>
          </p:cNvPr>
          <p:cNvCxnSpPr/>
          <p:nvPr/>
        </p:nvCxnSpPr>
        <p:spPr>
          <a:xfrm>
            <a:off x="4960112" y="1774949"/>
            <a:ext cx="0" cy="246888"/>
          </a:xfrm>
          <a:prstGeom prst="line">
            <a:avLst/>
          </a:prstGeom>
          <a:ln w="20320">
            <a:solidFill>
              <a:srgbClr val="2F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9">
            <a:extLst>
              <a:ext uri="{FF2B5EF4-FFF2-40B4-BE49-F238E27FC236}">
                <a16:creationId xmlns:a16="http://schemas.microsoft.com/office/drawing/2014/main" id="{A96B729A-1481-81F8-8732-C9F6A02B6060}"/>
              </a:ext>
            </a:extLst>
          </p:cNvPr>
          <p:cNvSpPr/>
          <p:nvPr/>
        </p:nvSpPr>
        <p:spPr>
          <a:xfrm>
            <a:off x="1686560" y="2561333"/>
            <a:ext cx="2606040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54864" rtlCol="0" anchor="ctr"/>
          <a:lstStyle/>
          <a:p>
            <a:pPr algn="ctr"/>
            <a:r>
              <a:rPr sz="1400" b="1">
                <a:solidFill>
                  <a:srgbClr val="142B4C"/>
                </a:solidFill>
                <a:latin typeface="Aptos"/>
              </a:rPr>
              <a:t>Frontend Development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5F6976"/>
                </a:solidFill>
                <a:latin typeface="Aptos"/>
              </a:rPr>
              <a:t>Django templates
Bootstrap • JavaScript
CSS / static files</a:t>
            </a:r>
          </a:p>
        </p:txBody>
      </p:sp>
      <p:sp>
        <p:nvSpPr>
          <p:cNvPr id="126" name="Rounded Rectangle 10">
            <a:extLst>
              <a:ext uri="{FF2B5EF4-FFF2-40B4-BE49-F238E27FC236}">
                <a16:creationId xmlns:a16="http://schemas.microsoft.com/office/drawing/2014/main" id="{0229F0C3-47CF-7499-7E45-0B40DAFE8DDC}"/>
              </a:ext>
            </a:extLst>
          </p:cNvPr>
          <p:cNvSpPr/>
          <p:nvPr/>
        </p:nvSpPr>
        <p:spPr>
          <a:xfrm>
            <a:off x="4740656" y="2561333"/>
            <a:ext cx="2606040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84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54864" rtlCol="0" anchor="ctr"/>
          <a:lstStyle/>
          <a:p>
            <a:pPr algn="ctr"/>
            <a:r>
              <a:rPr sz="1400" b="1">
                <a:solidFill>
                  <a:srgbClr val="142B4C"/>
                </a:solidFill>
                <a:latin typeface="Aptos"/>
              </a:rPr>
              <a:t>Backend Development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5F6976"/>
                </a:solidFill>
                <a:latin typeface="Aptos"/>
              </a:rPr>
              <a:t>Django apps • DRF / views
Serializers • Permissions / URLs</a:t>
            </a:r>
          </a:p>
        </p:txBody>
      </p:sp>
      <p:sp>
        <p:nvSpPr>
          <p:cNvPr id="127" name="Rounded Rectangle 11">
            <a:extLst>
              <a:ext uri="{FF2B5EF4-FFF2-40B4-BE49-F238E27FC236}">
                <a16:creationId xmlns:a16="http://schemas.microsoft.com/office/drawing/2014/main" id="{407759E2-E43F-325E-55EF-5A364CB99059}"/>
              </a:ext>
            </a:extLst>
          </p:cNvPr>
          <p:cNvSpPr/>
          <p:nvPr/>
        </p:nvSpPr>
        <p:spPr>
          <a:xfrm>
            <a:off x="7794752" y="2561333"/>
            <a:ext cx="2606040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6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54864" rtlCol="0" anchor="ctr"/>
          <a:lstStyle/>
          <a:p>
            <a:pPr algn="ctr"/>
            <a:r>
              <a:rPr sz="1400" b="1">
                <a:solidFill>
                  <a:srgbClr val="142B4C"/>
                </a:solidFill>
                <a:latin typeface="Aptos"/>
              </a:rPr>
              <a:t>Database Development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5F6976"/>
                </a:solidFill>
                <a:latin typeface="Aptos"/>
              </a:rPr>
              <a:t>Models • Migrations
Django ORM • SQLite</a:t>
            </a:r>
          </a:p>
        </p:txBody>
      </p:sp>
      <p:cxnSp>
        <p:nvCxnSpPr>
          <p:cNvPr id="128" name="Connector 12">
            <a:extLst>
              <a:ext uri="{FF2B5EF4-FFF2-40B4-BE49-F238E27FC236}">
                <a16:creationId xmlns:a16="http://schemas.microsoft.com/office/drawing/2014/main" id="{F7EC7FAB-D91D-287F-1780-7E64AE702EC5}"/>
              </a:ext>
            </a:extLst>
          </p:cNvPr>
          <p:cNvCxnSpPr/>
          <p:nvPr/>
        </p:nvCxnSpPr>
        <p:spPr>
          <a:xfrm>
            <a:off x="2994152" y="3676901"/>
            <a:ext cx="1847088" cy="493776"/>
          </a:xfrm>
          <a:prstGeom prst="line">
            <a:avLst/>
          </a:prstGeom>
          <a:ln w="16510">
            <a:solidFill>
              <a:srgbClr val="2F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3">
            <a:extLst>
              <a:ext uri="{FF2B5EF4-FFF2-40B4-BE49-F238E27FC236}">
                <a16:creationId xmlns:a16="http://schemas.microsoft.com/office/drawing/2014/main" id="{1E573342-DE36-14DD-C0AD-BFA4812666C6}"/>
              </a:ext>
            </a:extLst>
          </p:cNvPr>
          <p:cNvCxnSpPr/>
          <p:nvPr/>
        </p:nvCxnSpPr>
        <p:spPr>
          <a:xfrm>
            <a:off x="6048248" y="3676901"/>
            <a:ext cx="0" cy="493776"/>
          </a:xfrm>
          <a:prstGeom prst="line">
            <a:avLst/>
          </a:prstGeom>
          <a:ln w="16510">
            <a:solidFill>
              <a:srgbClr val="684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4">
            <a:extLst>
              <a:ext uri="{FF2B5EF4-FFF2-40B4-BE49-F238E27FC236}">
                <a16:creationId xmlns:a16="http://schemas.microsoft.com/office/drawing/2014/main" id="{8D11DB22-6A27-481E-339E-C7BA01F17B42}"/>
              </a:ext>
            </a:extLst>
          </p:cNvPr>
          <p:cNvCxnSpPr/>
          <p:nvPr/>
        </p:nvCxnSpPr>
        <p:spPr>
          <a:xfrm flipH="1">
            <a:off x="7255256" y="3676901"/>
            <a:ext cx="1837944" cy="493776"/>
          </a:xfrm>
          <a:prstGeom prst="line">
            <a:avLst/>
          </a:prstGeom>
          <a:ln w="16510">
            <a:solidFill>
              <a:srgbClr val="268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ounded Rectangle 15">
            <a:extLst>
              <a:ext uri="{FF2B5EF4-FFF2-40B4-BE49-F238E27FC236}">
                <a16:creationId xmlns:a16="http://schemas.microsoft.com/office/drawing/2014/main" id="{4D5232D0-86BE-1A1E-BC44-2BFD80F95BDE}"/>
              </a:ext>
            </a:extLst>
          </p:cNvPr>
          <p:cNvSpPr/>
          <p:nvPr/>
        </p:nvSpPr>
        <p:spPr>
          <a:xfrm>
            <a:off x="4201160" y="4170677"/>
            <a:ext cx="370332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6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54864" rtlCol="0" anchor="ctr"/>
          <a:lstStyle/>
          <a:p>
            <a:pPr algn="ctr"/>
            <a:r>
              <a:rPr sz="1500" b="1">
                <a:solidFill>
                  <a:srgbClr val="142B4C"/>
                </a:solidFill>
                <a:latin typeface="Aptos"/>
              </a:rPr>
              <a:t>Module Integration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5F6976"/>
                </a:solidFill>
                <a:latin typeface="Aptos"/>
              </a:rPr>
              <a:t>Frontend + Backend + Database</a:t>
            </a:r>
          </a:p>
        </p:txBody>
      </p:sp>
      <p:cxnSp>
        <p:nvCxnSpPr>
          <p:cNvPr id="132" name="Connector 16">
            <a:extLst>
              <a:ext uri="{FF2B5EF4-FFF2-40B4-BE49-F238E27FC236}">
                <a16:creationId xmlns:a16="http://schemas.microsoft.com/office/drawing/2014/main" id="{6857D524-EBDE-DD1C-3678-1A718BDE9C70}"/>
              </a:ext>
            </a:extLst>
          </p:cNvPr>
          <p:cNvCxnSpPr/>
          <p:nvPr/>
        </p:nvCxnSpPr>
        <p:spPr>
          <a:xfrm>
            <a:off x="6057392" y="4829045"/>
            <a:ext cx="0" cy="237744"/>
          </a:xfrm>
          <a:prstGeom prst="line">
            <a:avLst/>
          </a:prstGeom>
          <a:ln w="20320">
            <a:solidFill>
              <a:srgbClr val="2F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7">
            <a:extLst>
              <a:ext uri="{FF2B5EF4-FFF2-40B4-BE49-F238E27FC236}">
                <a16:creationId xmlns:a16="http://schemas.microsoft.com/office/drawing/2014/main" id="{8E462698-A698-F7B1-27CF-02F05F00C75E}"/>
              </a:ext>
            </a:extLst>
          </p:cNvPr>
          <p:cNvSpPr/>
          <p:nvPr/>
        </p:nvSpPr>
        <p:spPr>
          <a:xfrm>
            <a:off x="4201160" y="5066789"/>
            <a:ext cx="370332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54864" rtlCol="0" anchor="ctr"/>
          <a:lstStyle/>
          <a:p>
            <a:pPr algn="ctr"/>
            <a:r>
              <a:rPr sz="1500" b="1">
                <a:solidFill>
                  <a:srgbClr val="142B4C"/>
                </a:solidFill>
                <a:latin typeface="Aptos"/>
              </a:rPr>
              <a:t>Testing &amp; Validation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5F6976"/>
                </a:solidFill>
                <a:latin typeface="Aptos"/>
              </a:rPr>
              <a:t>Implemented features are verified</a:t>
            </a:r>
          </a:p>
        </p:txBody>
      </p:sp>
      <p:cxnSp>
        <p:nvCxnSpPr>
          <p:cNvPr id="134" name="Connector 18">
            <a:extLst>
              <a:ext uri="{FF2B5EF4-FFF2-40B4-BE49-F238E27FC236}">
                <a16:creationId xmlns:a16="http://schemas.microsoft.com/office/drawing/2014/main" id="{7134690F-E6D6-21AD-B2BB-E5F5CE48D485}"/>
              </a:ext>
            </a:extLst>
          </p:cNvPr>
          <p:cNvCxnSpPr/>
          <p:nvPr/>
        </p:nvCxnSpPr>
        <p:spPr>
          <a:xfrm>
            <a:off x="6057392" y="5725157"/>
            <a:ext cx="0" cy="201168"/>
          </a:xfrm>
          <a:prstGeom prst="line">
            <a:avLst/>
          </a:prstGeom>
          <a:ln w="20320">
            <a:solidFill>
              <a:srgbClr val="2F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ounded Rectangle 19">
            <a:extLst>
              <a:ext uri="{FF2B5EF4-FFF2-40B4-BE49-F238E27FC236}">
                <a16:creationId xmlns:a16="http://schemas.microsoft.com/office/drawing/2014/main" id="{A12C903F-7E39-F6F4-0AA6-F482C71760C9}"/>
              </a:ext>
            </a:extLst>
          </p:cNvPr>
          <p:cNvSpPr/>
          <p:nvPr/>
        </p:nvSpPr>
        <p:spPr>
          <a:xfrm>
            <a:off x="4201160" y="5798309"/>
            <a:ext cx="2057400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84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54864" rtlCol="0" anchor="ctr"/>
          <a:lstStyle/>
          <a:p>
            <a:pPr algn="ctr"/>
            <a:r>
              <a:rPr sz="1300" b="1">
                <a:solidFill>
                  <a:srgbClr val="142B4C"/>
                </a:solidFill>
                <a:latin typeface="Aptos"/>
              </a:rPr>
              <a:t>Fix / Revise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5F6976"/>
                </a:solidFill>
                <a:latin typeface="Aptos"/>
              </a:rPr>
              <a:t>Affected files</a:t>
            </a:r>
          </a:p>
        </p:txBody>
      </p:sp>
      <p:sp>
        <p:nvSpPr>
          <p:cNvPr id="136" name="Rounded Rectangle 20">
            <a:extLst>
              <a:ext uri="{FF2B5EF4-FFF2-40B4-BE49-F238E27FC236}">
                <a16:creationId xmlns:a16="http://schemas.microsoft.com/office/drawing/2014/main" id="{FF2C966A-43C0-CBFE-F01A-5C88C650A62B}"/>
              </a:ext>
            </a:extLst>
          </p:cNvPr>
          <p:cNvSpPr/>
          <p:nvPr/>
        </p:nvSpPr>
        <p:spPr>
          <a:xfrm>
            <a:off x="6487160" y="5798309"/>
            <a:ext cx="2240280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F6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54864" rtlCol="0" anchor="ctr"/>
          <a:lstStyle/>
          <a:p>
            <a:pPr algn="ctr"/>
            <a:r>
              <a:rPr sz="1300" b="1">
                <a:solidFill>
                  <a:srgbClr val="142B4C"/>
                </a:solidFill>
                <a:latin typeface="Aptos"/>
              </a:rPr>
              <a:t>Documentation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5F6976"/>
                </a:solidFill>
                <a:latin typeface="Aptos"/>
              </a:rPr>
              <a:t>Project docs + SRS</a:t>
            </a:r>
          </a:p>
        </p:txBody>
      </p:sp>
      <p:sp>
        <p:nvSpPr>
          <p:cNvPr id="137" name="Rounded Rectangle 21">
            <a:extLst>
              <a:ext uri="{FF2B5EF4-FFF2-40B4-BE49-F238E27FC236}">
                <a16:creationId xmlns:a16="http://schemas.microsoft.com/office/drawing/2014/main" id="{1519CD22-BBB3-51EC-34AE-9229FCA17A5F}"/>
              </a:ext>
            </a:extLst>
          </p:cNvPr>
          <p:cNvSpPr/>
          <p:nvPr/>
        </p:nvSpPr>
        <p:spPr>
          <a:xfrm>
            <a:off x="8956040" y="5798309"/>
            <a:ext cx="2240280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F6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73152" rIns="118872" bIns="54864" rtlCol="0" anchor="ctr"/>
          <a:lstStyle/>
          <a:p>
            <a:pPr algn="ctr"/>
            <a:r>
              <a:rPr sz="1300" b="1">
                <a:solidFill>
                  <a:srgbClr val="142B4C"/>
                </a:solidFill>
                <a:latin typeface="Aptos"/>
              </a:rPr>
              <a:t>Git / GitHub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5F6976"/>
                </a:solidFill>
                <a:latin typeface="Aptos"/>
              </a:rPr>
              <a:t>Version Control</a:t>
            </a:r>
          </a:p>
        </p:txBody>
      </p:sp>
      <p:cxnSp>
        <p:nvCxnSpPr>
          <p:cNvPr id="138" name="Connector 22">
            <a:extLst>
              <a:ext uri="{FF2B5EF4-FFF2-40B4-BE49-F238E27FC236}">
                <a16:creationId xmlns:a16="http://schemas.microsoft.com/office/drawing/2014/main" id="{A300FFB4-A0DD-A7D9-8277-DF3A1D08C2BE}"/>
              </a:ext>
            </a:extLst>
          </p:cNvPr>
          <p:cNvCxnSpPr/>
          <p:nvPr/>
        </p:nvCxnSpPr>
        <p:spPr>
          <a:xfrm>
            <a:off x="6258560" y="6081773"/>
            <a:ext cx="228600" cy="0"/>
          </a:xfrm>
          <a:prstGeom prst="line">
            <a:avLst/>
          </a:prstGeom>
          <a:ln w="1524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23">
            <a:extLst>
              <a:ext uri="{FF2B5EF4-FFF2-40B4-BE49-F238E27FC236}">
                <a16:creationId xmlns:a16="http://schemas.microsoft.com/office/drawing/2014/main" id="{3FCB001A-04A3-3767-A294-4C5FA995A563}"/>
              </a:ext>
            </a:extLst>
          </p:cNvPr>
          <p:cNvCxnSpPr/>
          <p:nvPr/>
        </p:nvCxnSpPr>
        <p:spPr>
          <a:xfrm>
            <a:off x="8727440" y="6081773"/>
            <a:ext cx="228600" cy="0"/>
          </a:xfrm>
          <a:prstGeom prst="line">
            <a:avLst/>
          </a:prstGeom>
          <a:ln w="1524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8F6D2733-7B28-DFD6-A12E-BAB87D0A3953}"/>
              </a:ext>
            </a:extLst>
          </p:cNvPr>
          <p:cNvSpPr txBox="1"/>
          <p:nvPr/>
        </p:nvSpPr>
        <p:spPr>
          <a:xfrm>
            <a:off x="607568" y="6410957"/>
            <a:ext cx="10881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0">
                <a:solidFill>
                  <a:srgbClr val="5F6976"/>
                </a:solidFill>
                <a:latin typeface="Aptos"/>
              </a:rPr>
              <a:t>Development process view — not runtime request processing or deployment topology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7"/>
                </a:solidFill>
                <a:latin typeface="Aptos Display"/>
              </a:defRPr>
            </a:pPr>
            <a:r>
              <a:t>10. Physical View — Current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Current development topology — not the planned production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C"/>
                </a:solidFill>
                <a:latin typeface="Aptos"/>
              </a:defRPr>
            </a:pPr>
            <a:r>
              <a:t>NirmanSathi • Software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331720" cy="1143000"/>
          </a:xfrm>
          <a:prstGeom prst="roundRect">
            <a:avLst/>
          </a:prstGeom>
          <a:solidFill>
            <a:srgbClr val="E8EFFB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72F3B"/>
                </a:solidFill>
                <a:latin typeface="Aptos"/>
              </a:defRPr>
            </a:pPr>
            <a:r>
              <a:t>Client Device</a:t>
            </a:r>
            <a:br/>
            <a:br/>
            <a:r>
              <a:t>Web 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554480"/>
            <a:ext cx="278892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2F3B"/>
                </a:solidFill>
                <a:latin typeface="Aptos"/>
              </a:defRPr>
            </a:pPr>
            <a:r>
              <a:t>Developer / Host Machine</a:t>
            </a:r>
            <a:br/>
            <a:br/>
            <a:r>
              <a:t>Django Development Server</a:t>
            </a:r>
            <a:br/>
            <a:br/>
            <a:r>
              <a:t>config + Django apps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828800"/>
            <a:ext cx="2194560" cy="1143000"/>
          </a:xfrm>
          <a:prstGeom prst="roundRect">
            <a:avLst/>
          </a:prstGeom>
          <a:solidFill>
            <a:srgbClr val="FAEFE0"/>
          </a:solidFill>
          <a:ln w="13970">
            <a:solidFill>
              <a:srgbClr val="CD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72F3B"/>
                </a:solidFill>
                <a:latin typeface="Aptos"/>
              </a:defRPr>
            </a:pPr>
            <a:r>
              <a:t>SQLite</a:t>
            </a:r>
            <a:br/>
            <a:br/>
            <a:r>
              <a:t>db.sqlite3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63240" y="2395728"/>
            <a:ext cx="1645920" cy="0"/>
          </a:xfrm>
          <a:prstGeom prst="line">
            <a:avLst/>
          </a:prstGeom>
          <a:ln w="19050">
            <a:solidFill>
              <a:srgbClr val="3D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29000" y="20574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3D67B4"/>
                </a:solidFill>
                <a:latin typeface="Aptos"/>
              </a:defRPr>
            </a:pPr>
            <a:r>
              <a:t>HTTP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98079" y="2395728"/>
            <a:ext cx="1645921" cy="0"/>
          </a:xfrm>
          <a:prstGeom prst="line">
            <a:avLst/>
          </a:prstGeom>
          <a:ln w="19050">
            <a:solidFill>
              <a:srgbClr val="CD7E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26679" y="2057400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CD7E28"/>
                </a:solidFill>
                <a:latin typeface="Aptos"/>
              </a:defRPr>
            </a:pPr>
            <a:r>
              <a:t>DB / 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4160520"/>
            <a:ext cx="781812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72F3B"/>
                </a:solidFill>
                <a:latin typeface="Aptos"/>
              </a:defRPr>
            </a:pPr>
            <a:r>
              <a:t>CURRENT PHYSICAL REALITY</a:t>
            </a:r>
            <a:br/>
            <a:r>
              <a:t>Local Django development server + SQLite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5486400"/>
            <a:ext cx="2971800" cy="310896"/>
          </a:xfrm>
          <a:prstGeom prst="roundRect">
            <a:avLst/>
          </a:prstGeom>
          <a:solidFill>
            <a:srgbClr val="FAEFE0"/>
          </a:solidFill>
          <a:ln w="1397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CD7E28"/>
                </a:solidFill>
                <a:latin typeface="Aptos"/>
              </a:defRPr>
            </a:pPr>
            <a:r>
              <a:t>POSTGRESQL = TARGET / FUTURE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7"/>
                </a:solidFill>
                <a:latin typeface="Aptos Display"/>
              </a:defRPr>
            </a:pPr>
            <a:r>
              <a:t>11. Physical View — Target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Clearly labelled planned production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C"/>
                </a:solidFill>
                <a:latin typeface="Aptos"/>
              </a:defRPr>
            </a:pPr>
            <a:r>
              <a:t>NirmanSathi • Software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2103120" cy="1005840"/>
          </a:xfrm>
          <a:prstGeom prst="roundRect">
            <a:avLst/>
          </a:prstGeom>
          <a:solidFill>
            <a:srgbClr val="E8EFFB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72F3B"/>
                </a:solidFill>
                <a:latin typeface="Aptos"/>
              </a:defRPr>
            </a:pPr>
            <a:r>
              <a:t>Client 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600200"/>
            <a:ext cx="2743200" cy="1645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72F3B"/>
                </a:solidFill>
                <a:latin typeface="Aptos"/>
              </a:defRPr>
            </a:pPr>
            <a:r>
              <a:t>Production Django</a:t>
            </a:r>
            <a:br/>
            <a:r>
              <a:t>Application Server</a:t>
            </a:r>
            <a:br/>
            <a:br/>
            <a:r>
              <a:t>Gunicorn / WSGI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920240"/>
            <a:ext cx="2560320" cy="1005840"/>
          </a:xfrm>
          <a:prstGeom prst="roundRect">
            <a:avLst/>
          </a:prstGeom>
          <a:solidFill>
            <a:srgbClr val="FAEFE0"/>
          </a:solidFill>
          <a:ln w="13970">
            <a:solidFill>
              <a:srgbClr val="CD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72F3B"/>
                </a:solidFill>
                <a:latin typeface="Aptos"/>
              </a:defRPr>
            </a:pPr>
            <a:r>
              <a:t>PostgreSQL</a:t>
            </a:r>
            <a:br/>
            <a:r>
              <a:t>Database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88920" y="2423160"/>
            <a:ext cx="868680" cy="0"/>
          </a:xfrm>
          <a:prstGeom prst="line">
            <a:avLst/>
          </a:prstGeom>
          <a:ln w="19050">
            <a:solidFill>
              <a:srgbClr val="3D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00800" y="2423160"/>
            <a:ext cx="1554479" cy="0"/>
          </a:xfrm>
          <a:prstGeom prst="line">
            <a:avLst/>
          </a:prstGeom>
          <a:ln w="19050">
            <a:solidFill>
              <a:srgbClr val="CD7E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063240" y="21031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3D67B4"/>
                </a:solidFill>
                <a:latin typeface="Aptos"/>
              </a:defRPr>
            </a:pPr>
            <a:r>
              <a:t>HTTPS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1031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CD7E28"/>
                </a:solidFill>
                <a:latin typeface="Aptos"/>
              </a:defRPr>
            </a:pPr>
            <a:r>
              <a:t>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4160520"/>
            <a:ext cx="9052560" cy="914400"/>
          </a:xfrm>
          <a:prstGeom prst="roundRect">
            <a:avLst/>
          </a:prstGeom>
          <a:solidFill>
            <a:srgbClr val="FAEFE0"/>
          </a:solidFill>
          <a:ln w="13970">
            <a:solidFill>
              <a:srgbClr val="CD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2F3B"/>
                </a:solidFill>
                <a:latin typeface="Aptos"/>
              </a:defRPr>
            </a:pPr>
            <a:r>
              <a:t>PLANNED — NOT YET IMPLEMENTED</a:t>
            </a:r>
            <a:br/>
            <a:r>
              <a:t>PostgreSQL deployment replaces the current SQLite development database.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7"/>
                </a:solidFill>
                <a:latin typeface="Aptos Display"/>
              </a:defRPr>
            </a:pPr>
            <a:r>
              <a:t>12. Scenario View — Citizen Permit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Sequence: submit → persist → review → update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C"/>
                </a:solidFill>
                <a:latin typeface="Aptos"/>
              </a:defRPr>
            </a:pPr>
            <a:r>
              <a:t>NirmanSathi • Software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59" y="1325880"/>
            <a:ext cx="1371600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Citizen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1874519"/>
            <a:ext cx="0" cy="4023361"/>
          </a:xfrm>
          <a:prstGeom prst="line">
            <a:avLst/>
          </a:prstGeom>
          <a:ln w="12700">
            <a:solidFill>
              <a:srgbClr val="3D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51760" y="1325880"/>
            <a:ext cx="1371600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Permit API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37560" y="1874519"/>
            <a:ext cx="0" cy="4023361"/>
          </a:xfrm>
          <a:prstGeom prst="line">
            <a:avLst/>
          </a:prstGeom>
          <a:ln w="12700">
            <a:solidFill>
              <a:srgbClr val="3D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937760" y="1325880"/>
            <a:ext cx="1371600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F5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Document API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1874519"/>
            <a:ext cx="0" cy="4023361"/>
          </a:xfrm>
          <a:prstGeom prst="line">
            <a:avLst/>
          </a:prstGeom>
          <a:ln w="12700">
            <a:solidFill>
              <a:srgbClr val="6F52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23760" y="1325880"/>
            <a:ext cx="1371600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SQLite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09560" y="1874519"/>
            <a:ext cx="0" cy="4023361"/>
          </a:xfrm>
          <a:prstGeom prst="line">
            <a:avLst/>
          </a:prstGeom>
          <a:ln w="12700">
            <a:solidFill>
              <a:srgbClr val="CD7E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509760" y="1325880"/>
            <a:ext cx="1371600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Officer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195560" y="1874519"/>
            <a:ext cx="0" cy="4023361"/>
          </a:xfrm>
          <a:prstGeom prst="line">
            <a:avLst/>
          </a:prstGeom>
          <a:ln w="12700">
            <a:solidFill>
              <a:srgbClr val="35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71600" y="203911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3D67B4"/>
                </a:solidFill>
                <a:latin typeface="Aptos"/>
              </a:defRPr>
            </a:pPr>
            <a:r>
              <a:t>POST application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37560" y="2880360"/>
            <a:ext cx="457200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00600" y="258775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CD7E28"/>
                </a:solidFill>
                <a:latin typeface="Aptos"/>
              </a:defRPr>
            </a:pPr>
            <a:r>
              <a:t>save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3337560" y="3429000"/>
            <a:ext cx="457200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800600" y="31363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CD7E28"/>
                </a:solidFill>
                <a:latin typeface="Aptos"/>
              </a:defRPr>
            </a:pPr>
            <a:r>
              <a:t>201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51560" y="3977639"/>
            <a:ext cx="457200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514600" y="3685031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6F529D"/>
                </a:solidFill>
                <a:latin typeface="Aptos"/>
              </a:defRPr>
            </a:pPr>
            <a:r>
              <a:t>POST document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23560" y="4526280"/>
            <a:ext cx="228600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43600" y="423367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CD7E28"/>
                </a:solidFill>
                <a:latin typeface="Aptos"/>
              </a:defRPr>
            </a:pPr>
            <a:r>
              <a:t>save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337560" y="5074920"/>
            <a:ext cx="685800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0" y="478231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35845B"/>
                </a:solidFill>
                <a:latin typeface="Aptos"/>
              </a:defRPr>
            </a:pPr>
            <a:r>
              <a:t>review / decision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337560" y="5623560"/>
            <a:ext cx="457200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800600" y="533095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CD7E28"/>
                </a:solidFill>
                <a:latin typeface="Aptos"/>
              </a:defRPr>
            </a:pPr>
            <a:r>
              <a:t>update status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9838B78-03A7-3C4C-4F7E-A2AB2528B6A6}"/>
              </a:ext>
            </a:extLst>
          </p:cNvPr>
          <p:cNvCxnSpPr/>
          <p:nvPr/>
        </p:nvCxnSpPr>
        <p:spPr>
          <a:xfrm>
            <a:off x="1051560" y="2319864"/>
            <a:ext cx="228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7"/>
                </a:solidFill>
                <a:latin typeface="Aptos Display"/>
              </a:defRPr>
            </a:pPr>
            <a:r>
              <a:t>13. Scenario View — Marketplace + Simulated Payment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Sequence: cart → checkout → payment → order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C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C"/>
                </a:solidFill>
                <a:latin typeface="Aptos"/>
              </a:defRPr>
            </a:pPr>
            <a:r>
              <a:t>NirmanSathi • Software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554480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Citizen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71600" y="1874519"/>
            <a:ext cx="0" cy="3977641"/>
          </a:xfrm>
          <a:prstGeom prst="line">
            <a:avLst/>
          </a:prstGeom>
          <a:ln w="12700">
            <a:solidFill>
              <a:srgbClr val="3D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37560" y="1325880"/>
            <a:ext cx="1554480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Marketplace API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0" y="1874519"/>
            <a:ext cx="0" cy="3977641"/>
          </a:xfrm>
          <a:prstGeom prst="line">
            <a:avLst/>
          </a:prstGeom>
          <a:ln w="12700">
            <a:solidFill>
              <a:srgbClr val="35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80760" y="1325880"/>
            <a:ext cx="1554480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Payment API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0" y="1874519"/>
            <a:ext cx="0" cy="3977641"/>
          </a:xfrm>
          <a:prstGeom prst="line">
            <a:avLst/>
          </a:prstGeom>
          <a:ln w="12700">
            <a:solidFill>
              <a:srgbClr val="CD7E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823960" y="1325880"/>
            <a:ext cx="1554480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F5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2F3B"/>
                </a:solidFill>
                <a:latin typeface="Aptos"/>
              </a:defRPr>
            </a:pPr>
            <a:r>
              <a:t>SQLite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01200" y="1874519"/>
            <a:ext cx="0" cy="3977641"/>
          </a:xfrm>
          <a:prstGeom prst="line">
            <a:avLst/>
          </a:prstGeom>
          <a:ln w="12700">
            <a:solidFill>
              <a:srgbClr val="6F52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71600" y="2377440"/>
            <a:ext cx="274320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920240" y="208483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35845B"/>
                </a:solidFill>
                <a:latin typeface="Aptos"/>
              </a:defRPr>
            </a:pPr>
            <a:r>
              <a:t>GET products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71600" y="2926080"/>
            <a:ext cx="274320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20240" y="263347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35845B"/>
                </a:solidFill>
                <a:latin typeface="Aptos"/>
              </a:defRPr>
            </a:pPr>
            <a:r>
              <a:t>POST cart item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71600" y="3474720"/>
            <a:ext cx="274320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920240" y="318211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35845B"/>
                </a:solidFill>
                <a:latin typeface="Aptos"/>
              </a:defRPr>
            </a:pPr>
            <a:r>
              <a:t>POST checkout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14800" y="4023360"/>
            <a:ext cx="548640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35040" y="373075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6F529D"/>
                </a:solidFill>
                <a:latin typeface="Aptos"/>
              </a:defRPr>
            </a:pPr>
            <a:r>
              <a:t>create order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371600" y="4572000"/>
            <a:ext cx="548640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291840" y="42793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CD7E28"/>
                </a:solidFill>
                <a:latin typeface="Aptos"/>
              </a:defRPr>
            </a:pPr>
            <a:r>
              <a:t>simulate payment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0" y="5120640"/>
            <a:ext cx="274320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406640" y="4828031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6F529D"/>
                </a:solidFill>
                <a:latin typeface="Aptos"/>
              </a:defRPr>
            </a:pPr>
            <a:r>
              <a:t>persist status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371600" y="5669280"/>
            <a:ext cx="548640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291840" y="537667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CD7E28"/>
                </a:solidFill>
                <a:latin typeface="Aptos"/>
              </a:defRPr>
            </a:pPr>
            <a:r>
              <a:t>success / failure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6016752"/>
            <a:ext cx="4846320" cy="320040"/>
          </a:xfrm>
          <a:prstGeom prst="roundRect">
            <a:avLst/>
          </a:prstGeom>
          <a:solidFill>
            <a:srgbClr val="FAEFE0"/>
          </a:solidFill>
          <a:ln w="13970">
            <a:solidFill>
              <a:srgbClr val="CD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72F3B"/>
                </a:solidFill>
                <a:latin typeface="Aptos"/>
              </a:defRPr>
            </a:pPr>
            <a:r>
              <a:t>Payment is simulated inside Django — no external eSewa server.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437"/>
                </a:solidFill>
                <a:latin typeface="Aptos Display"/>
              </a:defRPr>
            </a:pPr>
            <a:r>
              <a:t>14. Architecture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The four views describe the same system from different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C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0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655624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C"/>
                </a:solidFill>
                <a:latin typeface="Aptos"/>
              </a:defRPr>
            </a:pPr>
            <a:r>
              <a:t>NirmanSathi • Software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280160"/>
            <a:ext cx="1828800" cy="640080"/>
          </a:xfrm>
          <a:prstGeom prst="roundRect">
            <a:avLst/>
          </a:prstGeom>
          <a:solidFill>
            <a:srgbClr val="E8EFFB"/>
          </a:solidFill>
          <a:ln w="13970">
            <a:solidFill>
              <a:srgbClr val="3D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72F3B"/>
                </a:solidFill>
                <a:latin typeface="Aptos"/>
              </a:defRPr>
            </a:pPr>
            <a:r>
              <a:t>Logical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280160"/>
            <a:ext cx="8321040" cy="640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0">
                <a:solidFill>
                  <a:srgbClr val="272F3B"/>
                </a:solidFill>
                <a:latin typeface="Aptos"/>
              </a:defRPr>
            </a:pPr>
            <a:r>
              <a:t>Business modules, RBAC, permit lifecycle, marketplace, cart, order and simulated payment.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76272"/>
            <a:ext cx="1828800" cy="640080"/>
          </a:xfrm>
          <a:prstGeom prst="roundRect">
            <a:avLst/>
          </a:prstGeom>
          <a:solidFill>
            <a:srgbClr val="E8F5ED"/>
          </a:solidFill>
          <a:ln w="13970">
            <a:solidFill>
              <a:srgbClr val="35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72F3B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176272"/>
            <a:ext cx="8321040" cy="640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0">
                <a:solidFill>
                  <a:srgbClr val="272F3B"/>
                </a:solidFill>
                <a:latin typeface="Aptos"/>
              </a:defRPr>
            </a:pPr>
            <a:r>
              <a:t>HTTP request → middleware → JWT → permission → ViewSet → serializer → ORM → SQLite.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72384"/>
            <a:ext cx="1828800" cy="640080"/>
          </a:xfrm>
          <a:prstGeom prst="roundRect">
            <a:avLst/>
          </a:prstGeom>
          <a:solidFill>
            <a:srgbClr val="EFE9F7"/>
          </a:solidFill>
          <a:ln w="13970">
            <a:solidFill>
              <a:srgbClr val="6F5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72F3B"/>
                </a:solidFill>
                <a:latin typeface="Aptos"/>
              </a:defRPr>
            </a:pPr>
            <a:r>
              <a:t>Development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3072384"/>
            <a:ext cx="8321040" cy="640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0">
                <a:solidFill>
                  <a:srgbClr val="272F3B"/>
                </a:solidFill>
                <a:latin typeface="Aptos"/>
              </a:defRPr>
            </a:pPr>
            <a:r>
              <a:t>Actual Django apps: accounts, locations, permits, marketplace and payments.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68496"/>
            <a:ext cx="1828800" cy="640080"/>
          </a:xfrm>
          <a:prstGeom prst="roundRect">
            <a:avLst/>
          </a:prstGeom>
          <a:solidFill>
            <a:srgbClr val="FAEFE0"/>
          </a:solidFill>
          <a:ln w="13970">
            <a:solidFill>
              <a:srgbClr val="CD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72F3B"/>
                </a:solidFill>
                <a:latin typeface="Aptos"/>
              </a:defRPr>
            </a:pPr>
            <a:r>
              <a:t>Physical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3968496"/>
            <a:ext cx="8321040" cy="640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0">
                <a:solidFill>
                  <a:srgbClr val="272F3B"/>
                </a:solidFill>
                <a:latin typeface="Aptos"/>
              </a:defRPr>
            </a:pPr>
            <a:r>
              <a:t>Current: browser → Django development server → SQLite. PostgreSQL is planned.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864608"/>
            <a:ext cx="1828800" cy="640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72F3B"/>
                </a:solidFill>
                <a:latin typeface="Aptos"/>
              </a:defRPr>
            </a:pPr>
            <a:r>
              <a:t>+1 Scenario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4864608"/>
            <a:ext cx="8321040" cy="640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0">
                <a:solidFill>
                  <a:srgbClr val="272F3B"/>
                </a:solidFill>
                <a:latin typeface="Aptos"/>
              </a:defRPr>
            </a:pPr>
            <a:r>
              <a:t>Permit submission and marketplace/payment sequences validate the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1021</Words>
  <Application>Microsoft Office PowerPoint</Application>
  <PresentationFormat>Widescreen</PresentationFormat>
  <Paragraphs>204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Triton</dc:creator>
  <cp:keywords/>
  <dc:description>generated using python-pptx</dc:description>
  <cp:lastModifiedBy>Binit Singh</cp:lastModifiedBy>
  <cp:revision>4</cp:revision>
  <dcterms:created xsi:type="dcterms:W3CDTF">2013-01-27T09:14:16Z</dcterms:created>
  <dcterms:modified xsi:type="dcterms:W3CDTF">2026-08-11T12:36:05Z</dcterms:modified>
  <cp:category/>
</cp:coreProperties>
</file>