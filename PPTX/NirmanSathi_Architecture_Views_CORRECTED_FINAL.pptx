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30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43A"/>
                </a:solidFill>
              </a:defRPr>
            </a:pPr>
            <a:r>
              <a:t>NirmanSathi — Software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C6874"/>
                </a:solidFill>
              </a:defRPr>
            </a:pPr>
            <a:r>
              <a:t>National Digital Construction Governance &amp; Marketplace Platform | 4+1 View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10515600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232A32"/>
                </a:solidFill>
              </a:defRPr>
            </a:pPr>
            <a:r>
              <a:t>CURRENT IMPLEMENTATION</a:t>
            </a:r>
            <a:br/>
            <a:r>
              <a:t>Django + Django REST Framework + SimpleJWT</a:t>
            </a:r>
            <a:br/>
            <a:r>
              <a:t>Bootstrap + Vanilla JavaScript</a:t>
            </a:r>
            <a:br/>
            <a:r>
              <a:t>SQLite + Django ORM</a:t>
            </a:r>
            <a:br/>
            <a:r>
              <a:t>Hybrid MPA + REST APIs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530352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C6874"/>
                </a:solidFill>
              </a:defRPr>
            </a:pPr>
            <a:r>
              <a:t>Architecture views are derived from the audited implementation and distinguish current behavior from planned future scope.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874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43A"/>
                </a:solidFill>
              </a:defRPr>
            </a:pPr>
            <a:r>
              <a:t>System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C6874"/>
                </a:solidFill>
              </a:defRPr>
            </a:pPr>
            <a:r>
              <a:t>Current actors and externally visible capabilities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828800" cy="685800"/>
          </a:xfrm>
          <a:prstGeom prst="roundRect">
            <a:avLst/>
          </a:prstGeom>
          <a:solidFill>
            <a:srgbClr val="E7ECF2"/>
          </a:solidFill>
          <a:ln w="15240">
            <a:solidFill>
              <a:srgbClr val="2D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2A32"/>
                </a:solidFill>
              </a:defRPr>
            </a:pPr>
            <a:r>
              <a:t>Citizen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971800"/>
            <a:ext cx="1828800" cy="685800"/>
          </a:xfrm>
          <a:prstGeom prst="roundRect">
            <a:avLst/>
          </a:prstGeom>
          <a:solidFill>
            <a:srgbClr val="E7ECF2"/>
          </a:solidFill>
          <a:ln w="15240">
            <a:solidFill>
              <a:srgbClr val="2D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2A32"/>
                </a:solidFill>
              </a:defRPr>
            </a:pPr>
            <a:r>
              <a:t>Municipality Officer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114800"/>
            <a:ext cx="1828800" cy="685800"/>
          </a:xfrm>
          <a:prstGeom prst="roundRect">
            <a:avLst/>
          </a:prstGeom>
          <a:solidFill>
            <a:srgbClr val="E7ECF2"/>
          </a:solidFill>
          <a:ln w="15240">
            <a:solidFill>
              <a:srgbClr val="2D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2A32"/>
                </a:solidFill>
              </a:defRPr>
            </a:pPr>
            <a:r>
              <a:t>Material Supplier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257800"/>
            <a:ext cx="1828800" cy="685800"/>
          </a:xfrm>
          <a:prstGeom prst="roundRect">
            <a:avLst/>
          </a:prstGeom>
          <a:solidFill>
            <a:srgbClr val="E7ECF2"/>
          </a:solidFill>
          <a:ln w="15240">
            <a:solidFill>
              <a:srgbClr val="2D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2A32"/>
                </a:solidFill>
              </a:defRPr>
            </a:pPr>
            <a:r>
              <a:t>Administrator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1508760"/>
            <a:ext cx="713232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4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32A32"/>
                </a:solidFill>
              </a:defRPr>
            </a:pPr>
            <a:r>
              <a:t>Nir​​manSathi System Boundary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148840"/>
            <a:ext cx="292608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32A32"/>
                </a:solidFill>
              </a:defRPr>
            </a:pPr>
            <a:r>
              <a:t>Authentication &amp; Role Resolution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2148840"/>
            <a:ext cx="292608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32A32"/>
                </a:solidFill>
              </a:defRPr>
            </a:pPr>
            <a:r>
              <a:t>Construction Permit Application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971800"/>
            <a:ext cx="292608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32A32"/>
                </a:solidFill>
              </a:defRPr>
            </a:pPr>
            <a:r>
              <a:t>Document Upload &amp; Officer Review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2971800"/>
            <a:ext cx="292608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32A32"/>
                </a:solidFill>
              </a:defRPr>
            </a:pPr>
            <a:r>
              <a:t>Location Hierarchy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3794760"/>
            <a:ext cx="292608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32A32"/>
                </a:solidFill>
              </a:defRPr>
            </a:pPr>
            <a:r>
              <a:t>Product Catalogue &amp; Categories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3794760"/>
            <a:ext cx="292608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32A32"/>
                </a:solidFill>
              </a:defRPr>
            </a:pPr>
            <a:r>
              <a:t>Cart → Checkout → Order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4617720"/>
            <a:ext cx="292608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32A32"/>
                </a:solidFill>
              </a:defRPr>
            </a:pPr>
            <a:r>
              <a:t>&lt;&lt;simulated&gt;&gt; Payment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0" y="4617720"/>
            <a:ext cx="292608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32A32"/>
                </a:solidFill>
              </a:defRPr>
            </a:pPr>
            <a:r>
              <a:t>Status / Dashboard Views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743200" y="2176272"/>
            <a:ext cx="1097280" cy="0"/>
          </a:xfrm>
          <a:prstGeom prst="line">
            <a:avLst/>
          </a:prstGeom>
          <a:ln w="1905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560320" y="2011679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C6874"/>
                </a:solidFill>
              </a:defRPr>
            </a:pPr>
            <a:r>
              <a:t>HTTP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743200" y="3319272"/>
            <a:ext cx="1097280" cy="0"/>
          </a:xfrm>
          <a:prstGeom prst="line">
            <a:avLst/>
          </a:prstGeom>
          <a:ln w="1905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560320" y="3154679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C6874"/>
                </a:solidFill>
              </a:defRPr>
            </a:pPr>
            <a:r>
              <a:t>HTTP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743200" y="4462272"/>
            <a:ext cx="1097280" cy="0"/>
          </a:xfrm>
          <a:prstGeom prst="line">
            <a:avLst/>
          </a:prstGeom>
          <a:ln w="1905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560320" y="42976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C6874"/>
                </a:solidFill>
              </a:defRPr>
            </a:pPr>
            <a:r>
              <a:t>HTTP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743200" y="5605272"/>
            <a:ext cx="1097280" cy="0"/>
          </a:xfrm>
          <a:prstGeom prst="line">
            <a:avLst/>
          </a:prstGeom>
          <a:ln w="1905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560320" y="54406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C6874"/>
                </a:solidFill>
              </a:defRPr>
            </a:pPr>
            <a:r>
              <a:t>HTTP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874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43A"/>
                </a:solidFill>
              </a:defRPr>
            </a:pPr>
            <a:r>
              <a:t>4+1 Architecture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C6874"/>
                </a:solidFill>
              </a:defRPr>
            </a:pPr>
            <a:r>
              <a:t>Each view answers a different architectural question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196596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32A32"/>
                </a:solidFill>
              </a:defRPr>
            </a:pPr>
            <a:r>
              <a:t>Logical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2900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C6874"/>
                </a:solidFill>
              </a:defRPr>
            </a:pPr>
            <a:r>
              <a:t>What the system does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53512" y="1920240"/>
            <a:ext cx="196596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32A32"/>
                </a:solidFill>
              </a:defRPr>
            </a:pPr>
            <a:r>
              <a:t>Process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90672" y="342900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C6874"/>
                </a:solidFill>
              </a:defRPr>
            </a:pPr>
            <a:r>
              <a:t>How requests execute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21224" y="1920240"/>
            <a:ext cx="196596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94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32A32"/>
                </a:solidFill>
              </a:defRPr>
            </a:pPr>
            <a:r>
              <a:t>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58384" y="342900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C6874"/>
                </a:solidFill>
              </a:defRPr>
            </a:pPr>
            <a:r>
              <a:t>How code is organized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88936" y="1920240"/>
            <a:ext cx="196596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7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32A32"/>
                </a:solidFill>
              </a:defRPr>
            </a:pPr>
            <a:r>
              <a:t>Physical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6096" y="342900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C6874"/>
                </a:solidFill>
              </a:defRPr>
            </a:pPr>
            <a:r>
              <a:t>Where it runs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56648" y="1920240"/>
            <a:ext cx="196596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32A32"/>
                </a:solidFill>
              </a:defRPr>
            </a:pPr>
            <a:r>
              <a:t>Scenario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93808" y="342900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C6874"/>
                </a:solidFill>
              </a:defRPr>
            </a:pPr>
            <a:r>
              <a:t>How key interactions occur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0060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B23D3D"/>
                </a:solidFill>
              </a:defRPr>
            </a:pPr>
            <a:r>
              <a:t>SOURCE OF TRUTH: audited implementation. No SMTP, real eSewa server, Redis, queues, WebSockets, Docker, or production PostgreSQL are presented as current.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874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43A"/>
                </a:solidFill>
              </a:defRPr>
            </a:pPr>
            <a:r>
              <a:t>Logical View — Master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C6874"/>
                </a:solidFill>
              </a:defRPr>
            </a:pPr>
            <a:r>
              <a:t>Business/domain decomposition with explicit trust boundary and audited entities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2834640" cy="4983480"/>
          </a:xfrm>
          <a:prstGeom prst="roundRect">
            <a:avLst/>
          </a:prstGeom>
          <a:solidFill>
            <a:srgbClr val="EFF4FB"/>
          </a:solidFill>
          <a:ln w="15240">
            <a:solidFill>
              <a:srgbClr val="2D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232A32"/>
                </a:solidFill>
              </a:defRPr>
            </a:pPr>
            <a:r>
              <a:t>CLIENT / UNTRUSTED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74519"/>
            <a:ext cx="2103120" cy="438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0">
                <a:solidFill>
                  <a:srgbClr val="232A32"/>
                </a:solidFill>
              </a:defRPr>
            </a:pPr>
            <a:r>
              <a:t>Login / Register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514600"/>
            <a:ext cx="2103120" cy="438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0">
                <a:solidFill>
                  <a:srgbClr val="232A32"/>
                </a:solidFill>
              </a:defRPr>
            </a:pPr>
            <a:r>
              <a:t>Client-side role navigation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154679"/>
            <a:ext cx="2103120" cy="438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0">
                <a:solidFill>
                  <a:srgbClr val="232A32"/>
                </a:solidFill>
              </a:defRPr>
            </a:pPr>
            <a:r>
              <a:t>Permit forms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794759"/>
            <a:ext cx="2103120" cy="438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0">
                <a:solidFill>
                  <a:srgbClr val="232A32"/>
                </a:solidFill>
              </a:defRPr>
            </a:pPr>
            <a:r>
              <a:t>Marketplace 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4434840"/>
            <a:ext cx="2103120" cy="438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0">
                <a:solidFill>
                  <a:srgbClr val="232A32"/>
                </a:solidFill>
              </a:defRPr>
            </a:pPr>
            <a:r>
              <a:t>Cart / Checkout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074920"/>
            <a:ext cx="2103120" cy="438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0">
                <a:solidFill>
                  <a:srgbClr val="232A32"/>
                </a:solidFill>
              </a:defRPr>
            </a:pPr>
            <a:r>
              <a:t>JWT token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1325880"/>
            <a:ext cx="8001000" cy="4983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4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232A32"/>
                </a:solidFill>
              </a:defRPr>
            </a:pPr>
            <a:r>
              <a:t>SERVER / TRUSTED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69080" y="1874519"/>
            <a:ext cx="3246120" cy="60350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32A32"/>
                </a:solidFill>
              </a:defRPr>
            </a:pPr>
            <a:r>
              <a:t>Authentication + RBAC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1874519"/>
            <a:ext cx="3246120" cy="60350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32A32"/>
                </a:solidFill>
              </a:defRPr>
            </a:pPr>
            <a:r>
              <a:t>CustomUser 1—1 UserProfile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69080" y="2743200"/>
            <a:ext cx="3246120" cy="60350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32A32"/>
                </a:solidFill>
              </a:defRPr>
            </a:pPr>
            <a:r>
              <a:t>PermitApplication → ApplicationDocument → PermitDecision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2743200"/>
            <a:ext cx="3246120" cy="60350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32A32"/>
                </a:solidFill>
              </a:defRPr>
            </a:pPr>
            <a:r>
              <a:t>Location hierarchy: Province → District → Municipality → Ward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69080" y="3611879"/>
            <a:ext cx="3246120" cy="60350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32A32"/>
                </a:solidFill>
              </a:defRPr>
            </a:pPr>
            <a:r>
              <a:t>ProductCategory 1—* Product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3611879"/>
            <a:ext cx="3246120" cy="60350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32A32"/>
                </a:solidFill>
              </a:defRPr>
            </a:pPr>
            <a:r>
              <a:t>Cart → CartItem → Order → OrderItem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69080" y="4480559"/>
            <a:ext cx="3246120" cy="60350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7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32A32"/>
                </a:solidFill>
              </a:defRPr>
            </a:pPr>
            <a:r>
              <a:t>PaymentTransaction &lt;&lt;simulated&gt;&gt;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4480559"/>
            <a:ext cx="3246120" cy="60350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7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32A32"/>
                </a:solidFill>
              </a:defRPr>
            </a:pPr>
            <a:r>
              <a:t>Django ORM → SQLite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337560" y="3749039"/>
            <a:ext cx="320040" cy="0"/>
          </a:xfrm>
          <a:prstGeom prst="line">
            <a:avLst/>
          </a:prstGeom>
          <a:ln w="1905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766060" y="3584447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C6874"/>
                </a:solidFill>
              </a:defRPr>
            </a:pPr>
            <a:r>
              <a:t>HTTP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874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43A"/>
                </a:solidFill>
              </a:defRPr>
            </a:pPr>
            <a:r>
              <a:t>Logical View — Permit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C6874"/>
                </a:solidFill>
              </a:defRPr>
            </a:pPr>
            <a:r>
              <a:t>Current permit business logic and audited domain components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1572768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2A32"/>
                </a:solidFill>
              </a:defRPr>
            </a:pPr>
            <a:r>
              <a:t>PermitApplication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999232"/>
            <a:ext cx="15727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5C6874"/>
                </a:solidFill>
              </a:defRPr>
            </a:pPr>
            <a:r>
              <a:t>Citizen creates application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075688" y="2350008"/>
            <a:ext cx="329184" cy="0"/>
          </a:xfrm>
          <a:prstGeom prst="line">
            <a:avLst/>
          </a:prstGeom>
          <a:ln w="1905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404872" y="1828800"/>
            <a:ext cx="1572768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2A32"/>
                </a:solidFill>
              </a:defRPr>
            </a:pPr>
            <a:r>
              <a:t>ApplicationDocument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04872" y="2999232"/>
            <a:ext cx="15727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5C6874"/>
                </a:solidFill>
              </a:defRPr>
            </a:pPr>
            <a:r>
              <a:t>Upload required documents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77639" y="2350008"/>
            <a:ext cx="329185" cy="0"/>
          </a:xfrm>
          <a:prstGeom prst="line">
            <a:avLst/>
          </a:prstGeom>
          <a:ln w="1905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306824" y="1828800"/>
            <a:ext cx="1572768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2A32"/>
                </a:solidFill>
              </a:defRPr>
            </a:pPr>
            <a:r>
              <a:t>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06824" y="2999232"/>
            <a:ext cx="15727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5C6874"/>
                </a:solidFill>
              </a:defRPr>
            </a:pPr>
            <a:r>
              <a:t>Input/file checks in request path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79592" y="2350008"/>
            <a:ext cx="329184" cy="0"/>
          </a:xfrm>
          <a:prstGeom prst="line">
            <a:avLst/>
          </a:prstGeom>
          <a:ln w="1905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208776" y="1828800"/>
            <a:ext cx="1572768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2A32"/>
                </a:solidFill>
              </a:defRPr>
            </a:pPr>
            <a:r>
              <a:t>Officer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8776" y="2999232"/>
            <a:ext cx="15727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5C6874"/>
                </a:solidFill>
              </a:defRPr>
            </a:pPr>
            <a:r>
              <a:t>Officer reviews queue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81544" y="2350008"/>
            <a:ext cx="329184" cy="0"/>
          </a:xfrm>
          <a:prstGeom prst="line">
            <a:avLst/>
          </a:prstGeom>
          <a:ln w="1905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110728" y="1828800"/>
            <a:ext cx="1572768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2A32"/>
                </a:solidFill>
              </a:defRPr>
            </a:pPr>
            <a:r>
              <a:t>PermitDecision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0728" y="2999232"/>
            <a:ext cx="15727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5C6874"/>
                </a:solidFill>
              </a:defRPr>
            </a:pPr>
            <a:r>
              <a:t>Approve / reject with remarks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683496" y="2350008"/>
            <a:ext cx="329184" cy="0"/>
          </a:xfrm>
          <a:prstGeom prst="line">
            <a:avLst/>
          </a:prstGeom>
          <a:ln w="1905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012680" y="1828800"/>
            <a:ext cx="1572768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2A32"/>
                </a:solidFill>
              </a:defRPr>
            </a:pPr>
            <a:r>
              <a:t>Status Tracking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12680" y="2999232"/>
            <a:ext cx="15727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5C6874"/>
                </a:solidFill>
              </a:defRPr>
            </a:pPr>
            <a:r>
              <a:t>Citizen sees current status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069080"/>
            <a:ext cx="10607040" cy="1051560"/>
          </a:xfrm>
          <a:prstGeom prst="roundRect">
            <a:avLst/>
          </a:prstGeom>
          <a:solidFill>
            <a:srgbClr val="FFF7E7"/>
          </a:solidFill>
          <a:ln w="15240">
            <a:solidFill>
              <a:srgbClr val="BE7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5C6874"/>
                </a:solidFill>
              </a:defRPr>
            </a:pPr>
            <a:r>
              <a:t>AUDIT NOTE: PermitApplication.clean() is not automatically invoked through the DRF serializer path. Treat validation as request/file validation unless explicitly triggered.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874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43A"/>
                </a:solidFill>
              </a:defRPr>
            </a:pPr>
            <a:r>
              <a:t>Logical View — Marketplace &amp; Simulated Payment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C6874"/>
                </a:solidFill>
              </a:defRPr>
            </a:pPr>
            <a:r>
              <a:t>Current commerce flow; no external payment gateway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196596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32A32"/>
                </a:solidFill>
              </a:defRPr>
            </a:pPr>
            <a:r>
              <a:t>ProductCategory</a:t>
            </a:r>
            <a:br/>
            <a:r>
              <a:t>1 — * Product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463040"/>
            <a:ext cx="182880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32A32"/>
                </a:solidFill>
              </a:defRPr>
            </a:pPr>
            <a:r>
              <a:t>Cart → CartItem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83480" y="1463040"/>
            <a:ext cx="182880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32A32"/>
                </a:solidFill>
              </a:defRPr>
            </a:pPr>
            <a:r>
              <a:t>Checkout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1463040"/>
            <a:ext cx="182880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32A32"/>
                </a:solidFill>
              </a:defRPr>
            </a:pPr>
            <a:r>
              <a:t>Order → OrderItem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64040" y="1463040"/>
            <a:ext cx="2194560" cy="868680"/>
          </a:xfrm>
          <a:prstGeom prst="roundRect">
            <a:avLst/>
          </a:prstGeom>
          <a:solidFill>
            <a:srgbClr val="FFF7E7"/>
          </a:solidFill>
          <a:ln w="15240">
            <a:solidFill>
              <a:srgbClr val="BE7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2A32"/>
                </a:solidFill>
              </a:defRPr>
            </a:pPr>
            <a:r>
              <a:t>&lt;&lt;simulated&gt;&gt;</a:t>
            </a:r>
            <a:br/>
            <a:r>
              <a:t>PaymentTransaction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23160" y="1901952"/>
            <a:ext cx="320040" cy="0"/>
          </a:xfrm>
          <a:prstGeom prst="line">
            <a:avLst/>
          </a:prstGeom>
          <a:ln w="1905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72000" y="1901952"/>
            <a:ext cx="411480" cy="0"/>
          </a:xfrm>
          <a:prstGeom prst="line">
            <a:avLst/>
          </a:prstGeom>
          <a:ln w="1905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812280" y="1901952"/>
            <a:ext cx="411480" cy="0"/>
          </a:xfrm>
          <a:prstGeom prst="line">
            <a:avLst/>
          </a:prstGeom>
          <a:ln w="1905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052560" y="1901952"/>
            <a:ext cx="411480" cy="0"/>
          </a:xfrm>
          <a:prstGeom prst="line">
            <a:avLst/>
          </a:prstGeom>
          <a:ln w="1905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572000" y="3246120"/>
            <a:ext cx="2834640" cy="658368"/>
          </a:xfrm>
          <a:prstGeom prst="roundRect">
            <a:avLst/>
          </a:prstGeom>
          <a:solidFill>
            <a:srgbClr val="E7ECF2"/>
          </a:solidFill>
          <a:ln w="15240">
            <a:solidFill>
              <a:srgbClr val="BE7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32A32"/>
                </a:solidFill>
              </a:defRPr>
            </a:pPr>
            <a:r>
              <a:t>Payment result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4251960"/>
            <a:ext cx="2926080" cy="731520"/>
          </a:xfrm>
          <a:prstGeom prst="roundRect">
            <a:avLst/>
          </a:prstGeom>
          <a:solidFill>
            <a:srgbClr val="EEF8F1"/>
          </a:solidFill>
          <a:ln w="15240">
            <a:solidFill>
              <a:srgbClr val="2F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2A32"/>
                </a:solidFill>
              </a:defRPr>
            </a:pPr>
            <a:r>
              <a:t>SUCCESS</a:t>
            </a:r>
            <a:br/>
            <a:r>
              <a:t>PAID → CONFIRMED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251960"/>
            <a:ext cx="2926080" cy="731520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B23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2A32"/>
                </a:solidFill>
              </a:defRPr>
            </a:pPr>
            <a:r>
              <a:t>FAILURE</a:t>
            </a:r>
            <a:br/>
            <a:r>
              <a:t>UNPAID → PENDING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4206240" y="3904487"/>
            <a:ext cx="1783080" cy="347473"/>
          </a:xfrm>
          <a:prstGeom prst="line">
            <a:avLst/>
          </a:prstGeom>
          <a:ln w="19050">
            <a:solidFill>
              <a:srgbClr val="2F82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989320" y="3904487"/>
            <a:ext cx="1874520" cy="347473"/>
          </a:xfrm>
          <a:prstGeom prst="line">
            <a:avLst/>
          </a:prstGeom>
          <a:ln w="19050">
            <a:solidFill>
              <a:srgbClr val="B2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97280" y="5394960"/>
            <a:ext cx="9966960" cy="658368"/>
          </a:xfrm>
          <a:prstGeom prst="roundRect">
            <a:avLst/>
          </a:prstGeom>
          <a:solidFill>
            <a:srgbClr val="FFF7E7"/>
          </a:solidFill>
          <a:ln w="15240">
            <a:solidFill>
              <a:srgbClr val="BE7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5C6874"/>
                </a:solidFill>
              </a:defRPr>
            </a:pPr>
            <a:r>
              <a:t>Payment simulation is generated entirely inside Django. No real eSewa/payment server is called.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874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43A"/>
                </a:solidFill>
              </a:defRPr>
            </a:pPr>
            <a:r>
              <a:t>Process View — Runtime Request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C6874"/>
                </a:solidFill>
              </a:defRPr>
            </a:pPr>
            <a:r>
              <a:t>Current synchronous Django/DRF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920240"/>
            <a:ext cx="96012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32A32"/>
                </a:solidFill>
              </a:defRPr>
            </a:pPr>
            <a:r>
              <a:t>Browser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280160" y="2377440"/>
            <a:ext cx="201168" cy="0"/>
          </a:xfrm>
          <a:prstGeom prst="line">
            <a:avLst/>
          </a:prstGeom>
          <a:ln w="1905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481328" y="1920240"/>
            <a:ext cx="96012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32A32"/>
                </a:solidFill>
              </a:defRPr>
            </a:pPr>
            <a:r>
              <a:t>URL Router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41448" y="2377440"/>
            <a:ext cx="201168" cy="0"/>
          </a:xfrm>
          <a:prstGeom prst="line">
            <a:avLst/>
          </a:prstGeom>
          <a:ln w="1905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642616" y="1920240"/>
            <a:ext cx="96012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32A32"/>
                </a:solidFill>
              </a:defRPr>
            </a:pPr>
            <a:r>
              <a:t>Django Middleware Chain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02736" y="2377440"/>
            <a:ext cx="201168" cy="0"/>
          </a:xfrm>
          <a:prstGeom prst="line">
            <a:avLst/>
          </a:prstGeom>
          <a:ln w="1905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803904" y="1920240"/>
            <a:ext cx="96012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32A32"/>
                </a:solidFill>
              </a:defRPr>
            </a:pPr>
            <a:r>
              <a:t>ViewSet.dispatch()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764024" y="2377440"/>
            <a:ext cx="201168" cy="0"/>
          </a:xfrm>
          <a:prstGeom prst="line">
            <a:avLst/>
          </a:prstGeom>
          <a:ln w="1905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965192" y="1920240"/>
            <a:ext cx="96012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32A32"/>
                </a:solidFill>
              </a:defRPr>
            </a:pPr>
            <a:r>
              <a:t>JWTAuthentication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25312" y="2377440"/>
            <a:ext cx="201167" cy="0"/>
          </a:xfrm>
          <a:prstGeom prst="line">
            <a:avLst/>
          </a:prstGeom>
          <a:ln w="1905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126479" y="1920240"/>
            <a:ext cx="96012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32A32"/>
                </a:solidFill>
              </a:defRPr>
            </a:pPr>
            <a:r>
              <a:t>Permission Check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086599" y="2377440"/>
            <a:ext cx="201168" cy="0"/>
          </a:xfrm>
          <a:prstGeom prst="line">
            <a:avLst/>
          </a:prstGeom>
          <a:ln w="1905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287768" y="1920240"/>
            <a:ext cx="96012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32A32"/>
                </a:solidFill>
              </a:defRPr>
            </a:pPr>
            <a:r>
              <a:t>ViewSet Method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247888" y="2377440"/>
            <a:ext cx="201168" cy="0"/>
          </a:xfrm>
          <a:prstGeom prst="line">
            <a:avLst/>
          </a:prstGeom>
          <a:ln w="1905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449056" y="1920240"/>
            <a:ext cx="96012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32A32"/>
                </a:solidFill>
              </a:defRPr>
            </a:pPr>
            <a:r>
              <a:t>Serializer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409176" y="2377440"/>
            <a:ext cx="201168" cy="0"/>
          </a:xfrm>
          <a:prstGeom prst="line">
            <a:avLst/>
          </a:prstGeom>
          <a:ln w="1905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610344" y="1920240"/>
            <a:ext cx="96012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32A32"/>
                </a:solidFill>
              </a:defRPr>
            </a:pPr>
            <a:r>
              <a:t>Django ORM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570464" y="2377440"/>
            <a:ext cx="201168" cy="0"/>
          </a:xfrm>
          <a:prstGeom prst="line">
            <a:avLst/>
          </a:prstGeom>
          <a:ln w="1905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771632" y="1920240"/>
            <a:ext cx="96012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32A32"/>
                </a:solidFill>
              </a:defRPr>
            </a:pPr>
            <a:r>
              <a:t>SQLite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914400" y="2971800"/>
            <a:ext cx="10058400" cy="0"/>
          </a:xfrm>
          <a:prstGeom prst="line">
            <a:avLst/>
          </a:prstGeom>
          <a:ln w="19050">
            <a:solidFill>
              <a:srgbClr val="2F82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212080" y="28072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2F825A"/>
                </a:solidFill>
              </a:defRPr>
            </a:pPr>
            <a:r>
              <a:t>JSON response → Browser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977639"/>
            <a:ext cx="10972800" cy="960120"/>
          </a:xfrm>
          <a:prstGeom prst="roundRect">
            <a:avLst/>
          </a:prstGeom>
          <a:solidFill>
            <a:srgbClr val="FFF7E7"/>
          </a:solidFill>
          <a:ln w="15240">
            <a:solidFill>
              <a:srgbClr val="BE7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5C6874"/>
                </a:solidFill>
              </a:defRPr>
            </a:pPr>
            <a:r>
              <a:t>Every HTTP request is independent. transaction.atomic() applies only to the checkout transaction after validation; it does not make earlier cart-add or later payment requests atomic together.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97280" y="5349240"/>
            <a:ext cx="2743200" cy="685800"/>
          </a:xfrm>
          <a:prstGeom prst="roundRect">
            <a:avLst/>
          </a:prstGeom>
          <a:solidFill>
            <a:srgbClr val="EEF8F1"/>
          </a:solidFill>
          <a:ln w="15240">
            <a:solidFill>
              <a:srgbClr val="2F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32A32"/>
                </a:solidFill>
              </a:defRPr>
            </a:pPr>
            <a:r>
              <a:t>Stock sufficient → atomic Order + stock decrement + cart clear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5349240"/>
            <a:ext cx="2743200" cy="685800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B23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32A32"/>
                </a:solidFill>
              </a:defRPr>
            </a:pPr>
            <a:r>
              <a:t>Stock insufficient → ValueError → current 500 behavior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874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43A"/>
                </a:solidFill>
              </a:defRPr>
            </a:pPr>
            <a:r>
              <a:t>Process View — Authentication &amp; RBAC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C6874"/>
                </a:solidFill>
              </a:defRPr>
            </a:pPr>
            <a:r>
              <a:t>Two separate HTTP requests; server-side authorization is authoritative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182880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32A32"/>
                </a:solidFill>
              </a:defRPr>
            </a:pPr>
            <a:r>
              <a:t>Browser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0360" y="1508760"/>
            <a:ext cx="201168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2A32"/>
                </a:solidFill>
              </a:defRPr>
            </a:pPr>
            <a:r>
              <a:t>POST /login/</a:t>
            </a:r>
            <a:br/>
            <a:r>
              <a:t>TokenObtainPairView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94960" y="1508760"/>
            <a:ext cx="146304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2A32"/>
                </a:solidFill>
              </a:defRPr>
            </a:pPr>
            <a:r>
              <a:t>User DB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1508760"/>
            <a:ext cx="1828800" cy="731520"/>
          </a:xfrm>
          <a:prstGeom prst="roundRect">
            <a:avLst/>
          </a:prstGeom>
          <a:solidFill>
            <a:srgbClr val="EEF8F1"/>
          </a:solidFill>
          <a:ln w="15240">
            <a:solidFill>
              <a:srgbClr val="2F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2A32"/>
                </a:solidFill>
              </a:defRPr>
            </a:pPr>
            <a:r>
              <a:t>JWT issued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23160" y="1874519"/>
            <a:ext cx="457200" cy="0"/>
          </a:xfrm>
          <a:prstGeom prst="line">
            <a:avLst/>
          </a:prstGeom>
          <a:ln w="1905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920239" y="17099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C6874"/>
                </a:solidFill>
              </a:defRPr>
            </a:pPr>
            <a:r>
              <a:t>HTTP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92040" y="1874519"/>
            <a:ext cx="502920" cy="0"/>
          </a:xfrm>
          <a:prstGeom prst="line">
            <a:avLst/>
          </a:prstGeom>
          <a:ln w="1905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411980" y="17099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C6874"/>
                </a:solidFill>
              </a:defRPr>
            </a:pPr>
            <a:r>
              <a:t>DB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0" y="1874519"/>
            <a:ext cx="502920" cy="0"/>
          </a:xfrm>
          <a:prstGeom prst="line">
            <a:avLst/>
          </a:prstGeom>
          <a:ln w="19050">
            <a:solidFill>
              <a:srgbClr val="2F82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94360" y="3154680"/>
            <a:ext cx="182880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32A32"/>
                </a:solidFill>
              </a:defRPr>
            </a:pPr>
            <a:r>
              <a:t>Browser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80360" y="3154680"/>
            <a:ext cx="201168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2A32"/>
                </a:solidFill>
              </a:defRPr>
            </a:pPr>
            <a:r>
              <a:t>GET /me/</a:t>
            </a:r>
            <a:br/>
            <a:r>
              <a:t>CurrentUserView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94960" y="3154680"/>
            <a:ext cx="146304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2A32"/>
                </a:solidFill>
              </a:defRPr>
            </a:pPr>
            <a:r>
              <a:t>User/Profile DB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3154680"/>
            <a:ext cx="2286000" cy="731520"/>
          </a:xfrm>
          <a:prstGeom prst="roundRect">
            <a:avLst/>
          </a:prstGeom>
          <a:solidFill>
            <a:srgbClr val="EEF8F1"/>
          </a:solidFill>
          <a:ln w="15240">
            <a:solidFill>
              <a:srgbClr val="2F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2A32"/>
                </a:solidFill>
              </a:defRPr>
            </a:pPr>
            <a:r>
              <a:t>Role / Profile data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23160" y="3520440"/>
            <a:ext cx="457200" cy="0"/>
          </a:xfrm>
          <a:prstGeom prst="line">
            <a:avLst/>
          </a:prstGeom>
          <a:ln w="1905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920239" y="33558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C6874"/>
                </a:solidFill>
              </a:defRPr>
            </a:pPr>
            <a:r>
              <a:t>Bearer JWT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92040" y="3520440"/>
            <a:ext cx="502920" cy="0"/>
          </a:xfrm>
          <a:prstGeom prst="line">
            <a:avLst/>
          </a:prstGeom>
          <a:ln w="1905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411980" y="33558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C6874"/>
                </a:solidFill>
              </a:defRPr>
            </a:pPr>
            <a:r>
              <a:t>DB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58000" y="3520440"/>
            <a:ext cx="502920" cy="0"/>
          </a:xfrm>
          <a:prstGeom prst="line">
            <a:avLst/>
          </a:prstGeom>
          <a:ln w="19050">
            <a:solidFill>
              <a:srgbClr val="2F82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377940" y="33558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2F825A"/>
                </a:solidFill>
              </a:defRPr>
            </a:pPr>
            <a:r>
              <a:t>JSON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28800" y="4754880"/>
            <a:ext cx="8412480" cy="914400"/>
          </a:xfrm>
          <a:prstGeom prst="roundRect">
            <a:avLst/>
          </a:prstGeom>
          <a:solidFill>
            <a:srgbClr val="FFF7E7"/>
          </a:solidFill>
          <a:ln w="15240">
            <a:solidFill>
              <a:srgbClr val="BE7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5C6874"/>
                </a:solidFill>
              </a:defRPr>
            </a:pPr>
            <a:r>
              <a:t>CLIENT-SIDE role navigation improves UX only. SERVER-SIDE JWT authentication + permission classes enforce authorization.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874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43A"/>
                </a:solidFill>
              </a:defRPr>
            </a:pPr>
            <a:r>
              <a:t>Development View — Repository Organization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C6874"/>
                </a:solidFill>
              </a:defRPr>
            </a:pPr>
            <a:r>
              <a:t>Actual source structure; runtime/ignored artifacts are separated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507492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94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32A32"/>
                </a:solidFill>
              </a:defRPr>
            </a:pPr>
            <a:r>
              <a:t>src/</a:t>
            </a:r>
            <a:br/>
            <a:r>
              <a:t>├── manage.py</a:t>
            </a:r>
            <a:br/>
            <a:r>
              <a:t>├── config/</a:t>
            </a:r>
            <a:br/>
            <a:r>
              <a:t>├── accounts/</a:t>
            </a:r>
            <a:br/>
            <a:r>
              <a:t>├── locations/</a:t>
            </a:r>
            <a:br/>
            <a:r>
              <a:t>├── permits/</a:t>
            </a:r>
            <a:br/>
            <a:r>
              <a:t>├── marketplace/</a:t>
            </a:r>
            <a:br/>
            <a:r>
              <a:t>├── payments/</a:t>
            </a:r>
            <a:br/>
            <a:r>
              <a:t>├── templates/</a:t>
            </a:r>
            <a:br/>
            <a:r>
              <a:t>└── static/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60" y="1325880"/>
            <a:ext cx="5440680" cy="1920240"/>
          </a:xfrm>
          <a:prstGeom prst="roundRect">
            <a:avLst/>
          </a:prstGeom>
          <a:solidFill>
            <a:srgbClr val="F7F3FC"/>
          </a:solidFill>
          <a:ln w="15240">
            <a:solidFill>
              <a:srgbClr val="694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32A32"/>
                </a:solidFill>
              </a:defRPr>
            </a:pPr>
            <a:r>
              <a:t>Runtime / ignored artifacts</a:t>
            </a:r>
            <a:br/>
            <a:r>
              <a:t>• db.sqlite3</a:t>
            </a:r>
            <a:br/>
            <a:r>
              <a:t>• media/</a:t>
            </a:r>
            <a:br/>
            <a:r>
              <a:t>• staticfiles/</a:t>
            </a:r>
            <a:br/>
            <a:r>
              <a:t>• venv/</a:t>
            </a:r>
            <a:br/>
            <a:br/>
            <a:r>
              <a:t>Not part of the source repository tree.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3566160"/>
            <a:ext cx="544068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2A32"/>
                </a:solidFill>
              </a:defRPr>
            </a:pPr>
            <a:r>
              <a:t>Core Django structure inside apps</a:t>
            </a:r>
            <a:br/>
            <a:r>
              <a:t>urls.py → views.py → serializers.py → models.py</a:t>
            </a:r>
            <a:br/>
            <a:r>
              <a:t>views.py → permissions.py</a:t>
            </a:r>
            <a:br/>
            <a:r>
              <a:t>admin.py → models.py</a:t>
            </a:r>
            <a:br/>
            <a:r>
              <a:t>(locations permissions are inline in views.py)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874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43A"/>
                </a:solidFill>
              </a:defRPr>
            </a:pPr>
            <a:r>
              <a:t>Development View — Inter-App Dependency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C6874"/>
                </a:solidFill>
              </a:defRPr>
            </a:pPr>
            <a:r>
              <a:t>Arrows mean “depends on”; direction follows audited imports/migrations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201168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94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2A32"/>
                </a:solidFill>
              </a:defRPr>
            </a:pPr>
            <a:r>
              <a:t>accounts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1554480"/>
            <a:ext cx="201168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94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2A32"/>
                </a:solidFill>
              </a:defRPr>
            </a:pPr>
            <a:r>
              <a:t>locations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26080" y="1883664"/>
            <a:ext cx="731520" cy="0"/>
          </a:xfrm>
          <a:prstGeom prst="line">
            <a:avLst/>
          </a:prstGeom>
          <a:ln w="1905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560320" y="171907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C6874"/>
                </a:solidFill>
              </a:defRPr>
            </a:pPr>
            <a:r>
              <a:t>depends 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743200"/>
            <a:ext cx="201168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94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2A32"/>
                </a:solidFill>
              </a:defRPr>
            </a:pPr>
            <a:r>
              <a:t>permits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2377440"/>
            <a:ext cx="201168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94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2A32"/>
                </a:solidFill>
              </a:defRPr>
            </a:pPr>
            <a:r>
              <a:t>accounts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2926080" y="2706624"/>
            <a:ext cx="731520" cy="365760"/>
          </a:xfrm>
          <a:prstGeom prst="line">
            <a:avLst/>
          </a:prstGeom>
          <a:ln w="1905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560320" y="272491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C6874"/>
                </a:solidFill>
              </a:defRPr>
            </a:pPr>
            <a:r>
              <a:t>depends 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743200"/>
            <a:ext cx="201168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94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2A32"/>
                </a:solidFill>
              </a:defRPr>
            </a:pPr>
            <a:r>
              <a:t>permits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3291840"/>
            <a:ext cx="201168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94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2A32"/>
                </a:solidFill>
              </a:defRPr>
            </a:pPr>
            <a:r>
              <a:t>locations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926080" y="3072384"/>
            <a:ext cx="731520" cy="548640"/>
          </a:xfrm>
          <a:prstGeom prst="line">
            <a:avLst/>
          </a:prstGeom>
          <a:ln w="1905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560320" y="318211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C6874"/>
                </a:solidFill>
              </a:defRPr>
            </a:pPr>
            <a:r>
              <a:t>depends 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37760" y="1819922"/>
            <a:ext cx="201168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94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2A32"/>
                </a:solidFill>
              </a:defRPr>
            </a:pPr>
            <a:r>
              <a:rPr dirty="0"/>
              <a:t>marketplace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1645920"/>
            <a:ext cx="201168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94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2A32"/>
                </a:solidFill>
              </a:defRPr>
            </a:pPr>
            <a:r>
              <a:t>accounts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6949440" y="1975104"/>
            <a:ext cx="822960" cy="182880"/>
          </a:xfrm>
          <a:prstGeom prst="line">
            <a:avLst/>
          </a:prstGeom>
          <a:ln w="1905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629400" y="1901951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C6874"/>
                </a:solidFill>
              </a:defRPr>
            </a:pPr>
            <a:r>
              <a:t>depends 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37760" y="3108960"/>
            <a:ext cx="201168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94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2A32"/>
                </a:solidFill>
              </a:defRPr>
            </a:pPr>
            <a:r>
              <a:t>payments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0" y="2560320"/>
            <a:ext cx="201168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94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2A32"/>
                </a:solidFill>
              </a:defRPr>
            </a:pPr>
            <a:r>
              <a:t>marketplace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6949440" y="2889503"/>
            <a:ext cx="822960" cy="548641"/>
          </a:xfrm>
          <a:prstGeom prst="line">
            <a:avLst/>
          </a:prstGeom>
          <a:ln w="1905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629400" y="299923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C6874"/>
                </a:solidFill>
              </a:defRPr>
            </a:pPr>
            <a:r>
              <a:t>depends 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37760" y="3108960"/>
            <a:ext cx="201168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94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2A32"/>
                </a:solidFill>
              </a:defRPr>
            </a:pPr>
            <a:r>
              <a:t>payments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0" y="3474720"/>
            <a:ext cx="201168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94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2A32"/>
                </a:solidFill>
              </a:defRPr>
            </a:pPr>
            <a:r>
              <a:t>accounts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949440" y="3438144"/>
            <a:ext cx="822960" cy="365760"/>
          </a:xfrm>
          <a:prstGeom prst="line">
            <a:avLst/>
          </a:prstGeom>
          <a:ln w="1905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629400" y="345643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C6874"/>
                </a:solidFill>
              </a:defRPr>
            </a:pPr>
            <a:r>
              <a:t>depends 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51960" y="4800600"/>
            <a:ext cx="2560320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4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32A32"/>
                </a:solidFill>
              </a:defRPr>
            </a:pPr>
            <a:r>
              <a:t>config</a:t>
            </a:r>
          </a:p>
        </p:txBody>
      </p:sp>
      <p:cxnSp>
        <p:nvCxnSpPr>
          <p:cNvPr id="30" name="Connector 29"/>
          <p:cNvCxnSpPr/>
          <p:nvPr/>
        </p:nvCxnSpPr>
        <p:spPr>
          <a:xfrm flipH="1" flipV="1">
            <a:off x="1280160" y="2487168"/>
            <a:ext cx="4251960" cy="2651760"/>
          </a:xfrm>
          <a:prstGeom prst="line">
            <a:avLst/>
          </a:prstGeom>
          <a:ln w="12700">
            <a:solidFill>
              <a:srgbClr val="5C687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674620" y="364845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C6874"/>
                </a:solidFill>
              </a:defRPr>
            </a:pPr>
            <a:r>
              <a:t>config → app</a:t>
            </a:r>
          </a:p>
        </p:txBody>
      </p:sp>
      <p:cxnSp>
        <p:nvCxnSpPr>
          <p:cNvPr id="32" name="Connector 31"/>
          <p:cNvCxnSpPr/>
          <p:nvPr/>
        </p:nvCxnSpPr>
        <p:spPr>
          <a:xfrm flipH="1" flipV="1">
            <a:off x="3657600" y="2487168"/>
            <a:ext cx="1874520" cy="2651760"/>
          </a:xfrm>
          <a:prstGeom prst="line">
            <a:avLst/>
          </a:prstGeom>
          <a:ln w="12700">
            <a:solidFill>
              <a:srgbClr val="5C687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863340" y="364845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C6874"/>
                </a:solidFill>
              </a:defRPr>
            </a:pPr>
            <a:r>
              <a:t>config → app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5532120" y="2487168"/>
            <a:ext cx="868680" cy="2651760"/>
          </a:xfrm>
          <a:prstGeom prst="line">
            <a:avLst/>
          </a:prstGeom>
          <a:ln w="12700">
            <a:solidFill>
              <a:srgbClr val="5C687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234940" y="364845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C6874"/>
                </a:solidFill>
              </a:defRPr>
            </a:pPr>
            <a:r>
              <a:t>config → app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5532120" y="2487168"/>
            <a:ext cx="3611880" cy="2651760"/>
          </a:xfrm>
          <a:prstGeom prst="line">
            <a:avLst/>
          </a:prstGeom>
          <a:ln w="12700">
            <a:solidFill>
              <a:srgbClr val="5C687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606540" y="364845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C6874"/>
                </a:solidFill>
              </a:defRPr>
            </a:pPr>
            <a:r>
              <a:t>config → app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598932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C6874"/>
                </a:solidFill>
              </a:defRPr>
            </a:pPr>
            <a:r>
              <a:t>config depends on / wires the installed apps through URL routing and settings; arrows above describe app dependency direction, not runtime request order.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874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43A"/>
                </a:solidFill>
              </a:defRPr>
            </a:pPr>
            <a:r>
              <a:t>Physical View — Current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C6874"/>
                </a:solidFill>
              </a:defRPr>
            </a:pPr>
            <a:r>
              <a:t>UML Deployment-style view of the implemented development topology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1143000"/>
            <a:ext cx="5669280" cy="5074920"/>
          </a:xfrm>
          <a:prstGeom prst="rect">
            <a:avLst/>
          </a:prstGeom>
          <a:noFill/>
          <a:ln w="19050">
            <a:solidFill>
              <a:srgbClr val="14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383280" y="12618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243A"/>
                </a:solidFill>
              </a:defRPr>
            </a:pPr>
            <a:r>
              <a:t>SYSTEM / HOST MACHINE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331720"/>
            <a:ext cx="196596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32A32"/>
                </a:solidFill>
              </a:defRPr>
            </a:pPr>
            <a:r>
              <a:t>&lt;&lt;device&gt;&gt;</a:t>
            </a:r>
            <a:br/>
            <a:r>
              <a:t>Client Browser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828800"/>
            <a:ext cx="475488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7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32A32"/>
                </a:solidFill>
              </a:defRPr>
            </a:pPr>
            <a:r>
              <a:t>&lt;&lt;execution environment&gt;&gt;</a:t>
            </a:r>
            <a:br/>
            <a:r>
              <a:t>Django development server</a:t>
            </a:r>
            <a:br/>
            <a:r>
              <a:t>manage.py runserver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3154680"/>
            <a:ext cx="214884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32A32"/>
                </a:solidFill>
              </a:defRPr>
            </a:pPr>
            <a:r>
              <a:t>&lt;&lt;artifact&gt;&gt;</a:t>
            </a:r>
            <a:br/>
            <a:r>
              <a:t>Django apps + config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154680"/>
            <a:ext cx="224028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32A32"/>
                </a:solidFill>
              </a:defRPr>
            </a:pPr>
            <a:r>
              <a:t>&lt;&lt;artifact&gt;&gt;</a:t>
            </a:r>
            <a:br/>
            <a:r>
              <a:t>templates/ + static/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4572000"/>
            <a:ext cx="214884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94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2A32"/>
                </a:solidFill>
              </a:defRPr>
            </a:pPr>
            <a:r>
              <a:t>&lt;&lt;artifact&gt;&gt;</a:t>
            </a:r>
            <a:br/>
            <a:r>
              <a:t>db.sqlite3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572000"/>
            <a:ext cx="224028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94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2A32"/>
                </a:solidFill>
              </a:defRPr>
            </a:pPr>
            <a:r>
              <a:t>&lt;&lt;artifact&gt;&gt;</a:t>
            </a:r>
            <a:br/>
            <a:r>
              <a:t>media/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68880" y="2286000"/>
            <a:ext cx="1188720" cy="621792"/>
          </a:xfrm>
          <a:prstGeom prst="line">
            <a:avLst/>
          </a:prstGeom>
          <a:ln w="1905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331720" y="2432303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C6874"/>
                </a:solidFill>
              </a:defRPr>
            </a:pPr>
            <a:r>
              <a:t>HTTP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54880" y="2743200"/>
            <a:ext cx="0" cy="411480"/>
          </a:xfrm>
          <a:prstGeom prst="line">
            <a:avLst/>
          </a:prstGeom>
          <a:ln w="1905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023360" y="27843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C6874"/>
                </a:solidFill>
              </a:defRPr>
            </a:pPr>
            <a:r>
              <a:t>in-process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06440" y="3611880"/>
            <a:ext cx="365760" cy="0"/>
          </a:xfrm>
          <a:prstGeom prst="line">
            <a:avLst/>
          </a:prstGeom>
          <a:ln w="1905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257800" y="344728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C6874"/>
                </a:solidFill>
              </a:defRPr>
            </a:pPr>
            <a:r>
              <a:t>render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754880" y="4069080"/>
            <a:ext cx="0" cy="502920"/>
          </a:xfrm>
          <a:prstGeom prst="line">
            <a:avLst/>
          </a:prstGeom>
          <a:ln w="1905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023360" y="41559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C6874"/>
                </a:solidFill>
              </a:defRPr>
            </a:pPr>
            <a:r>
              <a:t>ORM / file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81160" y="1691640"/>
            <a:ext cx="2331720" cy="2743200"/>
          </a:xfrm>
          <a:prstGeom prst="roundRect">
            <a:avLst/>
          </a:prstGeom>
          <a:solidFill>
            <a:srgbClr val="FFF7E7"/>
          </a:solidFill>
          <a:ln w="15240">
            <a:solidFill>
              <a:srgbClr val="BE7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5C6874"/>
                </a:solidFill>
              </a:defRPr>
            </a:pPr>
            <a:r>
              <a:t>CURRENT</a:t>
            </a:r>
            <a:br/>
            <a:br/>
            <a:r>
              <a:t>SQLite is a local file, not a separate DB server.</a:t>
            </a:r>
            <a:br/>
            <a:br/>
            <a:r>
              <a:t>No PostgreSQL, Gunicorn, Docker, Redis, queues, or cloud deployment is claimed.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874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43A"/>
                </a:solidFill>
              </a:defRPr>
            </a:pPr>
            <a:r>
              <a:t>Physical View — External Runtime 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C6874"/>
                </a:solidFill>
              </a:defRPr>
            </a:pPr>
            <a:r>
              <a:t>Current browser-side external resources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201168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32A32"/>
                </a:solidFill>
              </a:defRPr>
            </a:pPr>
            <a:r>
              <a:t>&lt;&lt;device&gt;&gt;</a:t>
            </a:r>
            <a:br/>
            <a:r>
              <a:t>Client Browser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49039" y="1508760"/>
            <a:ext cx="292608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2A32"/>
                </a:solidFill>
              </a:defRPr>
            </a:pPr>
            <a:r>
              <a:t>&lt;&lt;external&gt;&gt;</a:t>
            </a:r>
            <a:br/>
            <a:r>
              <a:t>jsdelivr CDN</a:t>
            </a:r>
            <a:br/>
            <a:r>
              <a:t>Bootstrap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9039" y="2926080"/>
            <a:ext cx="292608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2A32"/>
                </a:solidFill>
              </a:defRPr>
            </a:pPr>
            <a:r>
              <a:t>&lt;&lt;external&gt;&gt;</a:t>
            </a:r>
            <a:br/>
            <a:r>
              <a:t>Google Fonts CDN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606040" y="1965960"/>
            <a:ext cx="1142999" cy="411480"/>
          </a:xfrm>
          <a:prstGeom prst="line">
            <a:avLst/>
          </a:prstGeom>
          <a:ln w="1905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446020" y="2007107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C6874"/>
                </a:solidFill>
              </a:defRPr>
            </a:pPr>
            <a:r>
              <a:t>HTTPS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06040" y="2377440"/>
            <a:ext cx="1142999" cy="1005840"/>
          </a:xfrm>
          <a:prstGeom prst="line">
            <a:avLst/>
          </a:prstGeom>
          <a:ln w="1905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446020" y="271576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C6874"/>
                </a:solidFill>
              </a:defRPr>
            </a:pPr>
            <a:r>
              <a:t>HTTPS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1508760"/>
            <a:ext cx="3931920" cy="2651760"/>
          </a:xfrm>
          <a:prstGeom prst="roundRect">
            <a:avLst/>
          </a:prstGeom>
          <a:solidFill>
            <a:srgbClr val="E7ECF2"/>
          </a:solidFill>
          <a:ln w="15240">
            <a:solidFill>
              <a:srgbClr val="5C6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5C6874"/>
                </a:solidFill>
              </a:defRPr>
            </a:pPr>
            <a:r>
              <a:t>Only browser-side external CDNs are shown here.</a:t>
            </a:r>
            <a:br/>
            <a:br/>
            <a:r>
              <a:t>These are not backend services and do not imply a production deployment.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874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43A"/>
                </a:solidFill>
              </a:defRPr>
            </a:pPr>
            <a:r>
              <a:t>Physical View — Planned / Future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C6874"/>
                </a:solidFill>
              </a:defRPr>
            </a:pPr>
            <a:r>
              <a:t>NOT IMPLEMENTED — documented target evolution, not current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325880"/>
            <a:ext cx="10332720" cy="4434840"/>
          </a:xfrm>
          <a:prstGeom prst="roundRect">
            <a:avLst/>
          </a:prstGeom>
          <a:solidFill>
            <a:srgbClr val="F5F5F5"/>
          </a:solidFill>
          <a:ln w="15240">
            <a:solidFill>
              <a:srgbClr val="5C6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32A32"/>
                </a:solidFill>
              </a:defRPr>
            </a:pPr>
            <a:r>
              <a:t>PLANNED / FUTURE — NOT IMPLEMENTED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2240280"/>
            <a:ext cx="201168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C6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2A32"/>
                </a:solidFill>
              </a:defRPr>
            </a:pPr>
            <a:r>
              <a:t>&lt;&lt;device&gt;&gt;</a:t>
            </a:r>
            <a:br/>
            <a:r>
              <a:t>Client Browser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2240280"/>
            <a:ext cx="237744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C6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2A32"/>
                </a:solidFill>
              </a:defRPr>
            </a:pPr>
            <a:r>
              <a:t>Production Django</a:t>
            </a:r>
            <a:br/>
            <a:r>
              <a:t>Deployment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2240280"/>
            <a:ext cx="182880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C6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2A32"/>
                </a:solidFill>
              </a:defRPr>
            </a:pPr>
            <a:r>
              <a:t>PostgreSQL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840480" y="2679192"/>
            <a:ext cx="914400" cy="0"/>
          </a:xfrm>
          <a:prstGeom prst="line">
            <a:avLst/>
          </a:prstGeom>
          <a:ln w="19050">
            <a:solidFill>
              <a:srgbClr val="5C687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566160" y="25146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C6874"/>
                </a:solidFill>
              </a:defRPr>
            </a:pPr>
            <a:r>
              <a:t>HTTPS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32320" y="2679192"/>
            <a:ext cx="1097280" cy="0"/>
          </a:xfrm>
          <a:prstGeom prst="line">
            <a:avLst/>
          </a:prstGeom>
          <a:ln w="19050">
            <a:solidFill>
              <a:srgbClr val="5C687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949440" y="25146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C6874"/>
                </a:solidFill>
              </a:defRPr>
            </a:pPr>
            <a:r>
              <a:t>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703320"/>
            <a:ext cx="8138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5C6874"/>
                </a:solidFill>
              </a:defRPr>
            </a:pPr>
            <a:r>
              <a:t>Possible production components such as Gunicorn/WSGI and PostgreSQL are target concepts only. Production dependency/package status is not verified by the audit.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94560" y="4892040"/>
            <a:ext cx="7498079" cy="548640"/>
          </a:xfrm>
          <a:prstGeom prst="roundRect">
            <a:avLst/>
          </a:prstGeom>
          <a:solidFill>
            <a:srgbClr val="FFF7E7"/>
          </a:solidFill>
          <a:ln w="15240">
            <a:solidFill>
              <a:srgbClr val="BE7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5C6874"/>
                </a:solidFill>
              </a:defRPr>
            </a:pPr>
            <a:r>
              <a:t>Do not present this slide as implemented infrastructure.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874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43A"/>
                </a:solidFill>
              </a:defRPr>
            </a:pPr>
            <a:r>
              <a:t>Scenario View — Citizen Permit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C6874"/>
                </a:solidFill>
              </a:defRPr>
            </a:pPr>
            <a:r>
              <a:t>Audited sequence; document uploads are separate HTTP requests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43000"/>
            <a:ext cx="141732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32A32"/>
                </a:solidFill>
              </a:defRPr>
            </a:pPr>
            <a:r>
              <a:t>Citizen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353312" y="1709928"/>
            <a:ext cx="0" cy="4187952"/>
          </a:xfrm>
          <a:prstGeom prst="line">
            <a:avLst/>
          </a:prstGeom>
          <a:ln w="12700">
            <a:solidFill>
              <a:srgbClr val="E7E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743200" y="1143000"/>
            <a:ext cx="141732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32A32"/>
                </a:solidFill>
              </a:defRPr>
            </a:pPr>
            <a:r>
              <a:t>Permit API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456432" y="1709928"/>
            <a:ext cx="0" cy="4187952"/>
          </a:xfrm>
          <a:prstGeom prst="line">
            <a:avLst/>
          </a:prstGeom>
          <a:ln w="12700">
            <a:solidFill>
              <a:srgbClr val="E7E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892040" y="1143000"/>
            <a:ext cx="141732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32A32"/>
                </a:solidFill>
              </a:defRPr>
            </a:pPr>
            <a:r>
              <a:t>Document API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05272" y="1709928"/>
            <a:ext cx="0" cy="4187952"/>
          </a:xfrm>
          <a:prstGeom prst="line">
            <a:avLst/>
          </a:prstGeom>
          <a:ln w="12700">
            <a:solidFill>
              <a:srgbClr val="E7E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086600" y="1143000"/>
            <a:ext cx="141732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32A32"/>
                </a:solidFill>
              </a:defRPr>
            </a:pPr>
            <a:r>
              <a:t>SQLite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99831" y="1709928"/>
            <a:ext cx="0" cy="4187952"/>
          </a:xfrm>
          <a:prstGeom prst="line">
            <a:avLst/>
          </a:prstGeom>
          <a:ln w="12700">
            <a:solidFill>
              <a:srgbClr val="E7E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372600" y="1143000"/>
            <a:ext cx="141732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32A32"/>
                </a:solidFill>
              </a:defRPr>
            </a:pPr>
            <a:r>
              <a:t>Officer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085832" y="1709928"/>
            <a:ext cx="0" cy="4187952"/>
          </a:xfrm>
          <a:prstGeom prst="line">
            <a:avLst/>
          </a:prstGeom>
          <a:ln w="12700">
            <a:solidFill>
              <a:srgbClr val="E7E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084831" y="2148840"/>
            <a:ext cx="658369" cy="0"/>
          </a:xfrm>
          <a:prstGeom prst="line">
            <a:avLst/>
          </a:prstGeom>
          <a:ln w="1397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682495" y="19842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C6874"/>
                </a:solidFill>
              </a:defRPr>
            </a:pPr>
            <a:r>
              <a:t>POST /applications/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743200" y="2697480"/>
            <a:ext cx="4343400" cy="0"/>
          </a:xfrm>
          <a:prstGeom prst="line">
            <a:avLst/>
          </a:prstGeom>
          <a:ln w="1397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183380" y="253288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C6874"/>
                </a:solidFill>
              </a:defRPr>
            </a:pPr>
            <a:r>
              <a:t>INSERT application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084831" y="3246120"/>
            <a:ext cx="2807209" cy="0"/>
          </a:xfrm>
          <a:prstGeom prst="line">
            <a:avLst/>
          </a:prstGeom>
          <a:ln w="1397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756915" y="3081527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C6874"/>
                </a:solidFill>
              </a:defRPr>
            </a:pPr>
            <a:r>
              <a:t>POST /documents/ BLUEPRINT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084831" y="3794760"/>
            <a:ext cx="2807209" cy="0"/>
          </a:xfrm>
          <a:prstGeom prst="line">
            <a:avLst/>
          </a:prstGeom>
          <a:ln w="1397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756915" y="363016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C6874"/>
                </a:solidFill>
              </a:defRPr>
            </a:pPr>
            <a:r>
              <a:t>POST /documents/ LALPURJA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2743200" y="4343400"/>
            <a:ext cx="6629400" cy="0"/>
          </a:xfrm>
          <a:prstGeom prst="line">
            <a:avLst/>
          </a:prstGeom>
          <a:ln w="1397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326380" y="41788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C6874"/>
                </a:solidFill>
              </a:defRPr>
            </a:pPr>
            <a:r>
              <a:t>GET /applications/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743200" y="4892040"/>
            <a:ext cx="6629400" cy="0"/>
          </a:xfrm>
          <a:prstGeom prst="line">
            <a:avLst/>
          </a:prstGeom>
          <a:ln w="1397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326380" y="47274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C6874"/>
                </a:solidFill>
              </a:defRPr>
            </a:pPr>
            <a:r>
              <a:t>POST /applications/&lt;id&gt;/review/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084831" y="5440680"/>
            <a:ext cx="658369" cy="0"/>
          </a:xfrm>
          <a:prstGeom prst="line">
            <a:avLst/>
          </a:prstGeom>
          <a:ln w="1397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682495" y="527608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C6874"/>
                </a:solidFill>
              </a:defRPr>
            </a:pPr>
            <a:r>
              <a:t>GET /applications/&lt;id&gt;/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897880"/>
            <a:ext cx="10515600" cy="438912"/>
          </a:xfrm>
          <a:prstGeom prst="roundRect">
            <a:avLst/>
          </a:prstGeom>
          <a:solidFill>
            <a:srgbClr val="FFF7E7"/>
          </a:solidFill>
          <a:ln w="15240">
            <a:solidFill>
              <a:srgbClr val="BE7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5C6874"/>
                </a:solidFill>
              </a:defRPr>
            </a:pPr>
            <a:r>
              <a:t>Each document upload is a separate request; the two uploads are not one atomic transaction.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874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43A"/>
                </a:solidFill>
              </a:defRPr>
            </a:pPr>
            <a:r>
              <a:t>Scenario View — Marketplace Checkout &amp; Simulated Payment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C6874"/>
                </a:solidFill>
              </a:defRPr>
            </a:pPr>
            <a:r>
              <a:t>Current flow including stock decision and payment outcome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160020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32A32"/>
                </a:solidFill>
              </a:defRPr>
            </a:pPr>
            <a:r>
              <a:t>Citizen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353312" y="1709928"/>
            <a:ext cx="0" cy="4096512"/>
          </a:xfrm>
          <a:prstGeom prst="line">
            <a:avLst/>
          </a:prstGeom>
          <a:ln w="12700">
            <a:solidFill>
              <a:srgbClr val="E7E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560320" y="1143000"/>
            <a:ext cx="160020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32A32"/>
                </a:solidFill>
              </a:defRPr>
            </a:pPr>
            <a:r>
              <a:t>Marketplace API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364991" y="1709928"/>
            <a:ext cx="0" cy="4096512"/>
          </a:xfrm>
          <a:prstGeom prst="line">
            <a:avLst/>
          </a:prstGeom>
          <a:ln w="12700">
            <a:solidFill>
              <a:srgbClr val="E7E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0" y="1143000"/>
            <a:ext cx="160020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32A32"/>
                </a:solidFill>
              </a:defRPr>
            </a:pPr>
            <a:r>
              <a:t>Payment API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291072" y="1709928"/>
            <a:ext cx="0" cy="4096512"/>
          </a:xfrm>
          <a:prstGeom prst="line">
            <a:avLst/>
          </a:prstGeom>
          <a:ln w="12700">
            <a:solidFill>
              <a:srgbClr val="E7E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229600" y="1143000"/>
            <a:ext cx="160020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32A32"/>
                </a:solidFill>
              </a:defRPr>
            </a:pPr>
            <a:r>
              <a:t>SQLite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034272" y="1709928"/>
            <a:ext cx="0" cy="4096512"/>
          </a:xfrm>
          <a:prstGeom prst="line">
            <a:avLst/>
          </a:prstGeom>
          <a:ln w="12700">
            <a:solidFill>
              <a:srgbClr val="E7E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148840" y="2194560"/>
            <a:ext cx="411480" cy="0"/>
          </a:xfrm>
          <a:prstGeom prst="line">
            <a:avLst/>
          </a:prstGeom>
          <a:ln w="1270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623060" y="2029967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C6874"/>
                </a:solidFill>
              </a:defRPr>
            </a:pPr>
            <a:r>
              <a:t>GET /products/categories/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48840" y="2743200"/>
            <a:ext cx="411480" cy="0"/>
          </a:xfrm>
          <a:prstGeom prst="line">
            <a:avLst/>
          </a:prstGeom>
          <a:ln w="1270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623060" y="25786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C6874"/>
                </a:solidFill>
              </a:defRPr>
            </a:pPr>
            <a:r>
              <a:t>POST /cart/add-item/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48840" y="3291840"/>
            <a:ext cx="411480" cy="0"/>
          </a:xfrm>
          <a:prstGeom prst="line">
            <a:avLst/>
          </a:prstGeom>
          <a:ln w="1270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623060" y="31272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C6874"/>
                </a:solidFill>
              </a:defRPr>
            </a:pPr>
            <a:r>
              <a:t>POST /cart/checkout/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60520" y="3840480"/>
            <a:ext cx="4069080" cy="0"/>
          </a:xfrm>
          <a:prstGeom prst="line">
            <a:avLst/>
          </a:prstGeom>
          <a:ln w="1270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63540" y="367588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C6874"/>
                </a:solidFill>
              </a:defRPr>
            </a:pPr>
            <a:r>
              <a:t>stock check / transaction.atomic()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148840" y="4389120"/>
            <a:ext cx="3337560" cy="0"/>
          </a:xfrm>
          <a:prstGeom prst="line">
            <a:avLst/>
          </a:prstGeom>
          <a:ln w="1270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086100" y="4224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C6874"/>
                </a:solidFill>
              </a:defRPr>
            </a:pPr>
            <a:r>
              <a:t>POST /esewa/simulate/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086600" y="4937760"/>
            <a:ext cx="1143000" cy="0"/>
          </a:xfrm>
          <a:prstGeom prst="line">
            <a:avLst/>
          </a:prstGeom>
          <a:ln w="1270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926580" y="477316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C6874"/>
                </a:solidFill>
              </a:defRPr>
            </a:pPr>
            <a:r>
              <a:t>PaymentTransaction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148840" y="5486400"/>
            <a:ext cx="411480" cy="0"/>
          </a:xfrm>
          <a:prstGeom prst="line">
            <a:avLst/>
          </a:prstGeom>
          <a:ln w="1270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623060" y="53218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C6874"/>
                </a:solidFill>
              </a:defRPr>
            </a:pPr>
            <a:r>
              <a:t>GET /orders/&lt;id&gt;/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0" y="5532120"/>
            <a:ext cx="1554480" cy="457200"/>
          </a:xfrm>
          <a:prstGeom prst="roundRect">
            <a:avLst/>
          </a:prstGeom>
          <a:solidFill>
            <a:srgbClr val="EEF8F1"/>
          </a:solidFill>
          <a:ln w="15240">
            <a:solidFill>
              <a:srgbClr val="2F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32A32"/>
                </a:solidFill>
              </a:defRPr>
            </a:pPr>
            <a:r>
              <a:t>SUCCESS → PAID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0" y="5532120"/>
            <a:ext cx="1554480" cy="457200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B23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32A32"/>
                </a:solidFill>
              </a:defRPr>
            </a:pPr>
            <a:r>
              <a:t>FAILURE → UNPAID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52360" y="5486400"/>
            <a:ext cx="3840480" cy="502920"/>
          </a:xfrm>
          <a:prstGeom prst="roundRect">
            <a:avLst/>
          </a:prstGeom>
          <a:solidFill>
            <a:srgbClr val="FFF7E7"/>
          </a:solidFill>
          <a:ln w="15240">
            <a:solidFill>
              <a:srgbClr val="BE7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0">
                <a:solidFill>
                  <a:srgbClr val="5C6874"/>
                </a:solidFill>
              </a:defRPr>
            </a:pPr>
            <a:r>
              <a:t>Known issue: supplier PATCH /orders/&lt;id&gt;/ → 405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874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43A"/>
                </a:solidFill>
              </a:defRPr>
            </a:pPr>
            <a:r>
              <a:t>Audit Trail — Known Implementation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C6874"/>
                </a:solidFill>
              </a:defRPr>
            </a:pPr>
            <a:r>
              <a:t>Show these honestly in the viva; do not present them as fixed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234440"/>
            <a:ext cx="525780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23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232A32"/>
                </a:solidFill>
              </a:defRPr>
            </a:pPr>
            <a:r>
              <a:t>Order supplier PATCH: frontend expects PATCH /orders/&lt;id&gt;/ but OrderViewSet is read-only → 405.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651760"/>
            <a:ext cx="525780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23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232A32"/>
                </a:solidFill>
              </a:defRPr>
            </a:pPr>
            <a:r>
              <a:t>Checkout insufficient stock: unhandled ValueError currently becomes HTTP 500.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069080"/>
            <a:ext cx="525780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23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232A32"/>
                </a:solidFill>
              </a:defRPr>
            </a:pPr>
            <a:r>
              <a:t>ApplicationDocumentViewSet standalone queryset is not fully officer-scoped; detail/update scope depends on permission checks.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252728"/>
            <a:ext cx="525780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23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232A32"/>
                </a:solidFill>
              </a:defRPr>
            </a:pPr>
            <a:r>
              <a:t>Payment is simulated inside Django; abandoning payment can leave PaymentTransaction UNPAID and Order PENDING.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670048"/>
            <a:ext cx="525780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23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232A32"/>
                </a:solidFill>
              </a:defRPr>
            </a:pPr>
            <a:r>
              <a:t>transaction.atomic() does not span multiple HTTP requests (cart add → checkout → payment).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087368"/>
            <a:ext cx="525780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23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232A32"/>
                </a:solidFill>
              </a:defRPr>
            </a:pPr>
            <a:r>
              <a:t>Admin user-management and audit-log UI are currently hardcoded/demo-style data.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097280"/>
            <a:ext cx="10972800" cy="53035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1417320"/>
            <a:ext cx="5212080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23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0">
                <a:solidFill>
                  <a:srgbClr val="232A32"/>
                </a:solidFill>
              </a:defRPr>
            </a:pPr>
            <a:r>
              <a:t>Order supplier PATCH: frontend expects PATCH /orders/&lt;id&gt;/ but OrderViewSet is read-only → 405.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417320"/>
            <a:ext cx="5212080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23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0">
                <a:solidFill>
                  <a:srgbClr val="232A32"/>
                </a:solidFill>
              </a:defRPr>
            </a:pPr>
            <a:r>
              <a:t>Checkout insufficient stock: unhandled ValueError currently becomes HTTP 500.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34640"/>
            <a:ext cx="5212080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23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0">
                <a:solidFill>
                  <a:srgbClr val="232A32"/>
                </a:solidFill>
              </a:defRPr>
            </a:pPr>
            <a:r>
              <a:t>ApplicationDocumentViewSet standalone queryset is not fully officer-scoped; detail/update scope depends on permission checks.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834640"/>
            <a:ext cx="5212080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23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0">
                <a:solidFill>
                  <a:srgbClr val="232A32"/>
                </a:solidFill>
              </a:defRPr>
            </a:pPr>
            <a:r>
              <a:t>Payment is simulated inside Django; abandoning payment can leave PaymentTransaction UNPAID and Order PENDING.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251960"/>
            <a:ext cx="5212080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23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0">
                <a:solidFill>
                  <a:srgbClr val="232A32"/>
                </a:solidFill>
              </a:defRPr>
            </a:pPr>
            <a:r>
              <a:t>transaction.atomic() does not span multiple HTTP requests (cart add → checkout → payment).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4251960"/>
            <a:ext cx="5212080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23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0">
                <a:solidFill>
                  <a:srgbClr val="232A32"/>
                </a:solidFill>
              </a:defRPr>
            </a:pPr>
            <a:r>
              <a:t>Admin user-management and audit-log UI are currently hardcoded/demo-style data.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874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43A"/>
                </a:solidFill>
              </a:defRPr>
            </a:pPr>
            <a:r>
              <a:t>Future Scope — Explicitly Not Implemented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C6874"/>
                </a:solidFill>
              </a:defRPr>
            </a:pPr>
            <a:r>
              <a:t>Architecture evolution only; none of these should be presented as current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325880"/>
            <a:ext cx="475488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C6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2A32"/>
                </a:solidFill>
              </a:defRPr>
            </a:pPr>
            <a:r>
              <a:t>PostgreSQL production database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25880"/>
            <a:ext cx="475488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C6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2A32"/>
                </a:solidFill>
              </a:defRPr>
            </a:pPr>
            <a:r>
              <a:t>Production WSGI/Gunicorn deployment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377439"/>
            <a:ext cx="475488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C6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2A32"/>
                </a:solidFill>
              </a:defRPr>
            </a:pPr>
            <a:r>
              <a:t>Real payment gateway integration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377439"/>
            <a:ext cx="475488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C6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2A32"/>
                </a:solidFill>
              </a:defRPr>
            </a:pPr>
            <a:r>
              <a:t>Email/SMS notifications (SMTP/SMS gateway)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429000"/>
            <a:ext cx="475488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C6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2A32"/>
                </a:solidFill>
              </a:defRPr>
            </a:pPr>
            <a:r>
              <a:t>Background jobs / queues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429000"/>
            <a:ext cx="475488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C6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2A32"/>
                </a:solidFill>
              </a:defRPr>
            </a:pPr>
            <a:r>
              <a:t>Cloud hosting / containerization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480559"/>
            <a:ext cx="475488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C6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2A32"/>
                </a:solidFill>
              </a:defRPr>
            </a:pPr>
            <a:r>
              <a:t>Improved audit logging and production monitoring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20240" y="5623560"/>
            <a:ext cx="8412480" cy="548640"/>
          </a:xfrm>
          <a:prstGeom prst="roundRect">
            <a:avLst/>
          </a:prstGeom>
          <a:solidFill>
            <a:srgbClr val="FFF7E7"/>
          </a:solidFill>
          <a:ln w="15240">
            <a:solidFill>
              <a:srgbClr val="BE7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5C6874"/>
                </a:solidFill>
              </a:defRPr>
            </a:pPr>
            <a:r>
              <a:t>PLANNED / FUTURE — NOT IMPLEMENTED. These items are excluded from the current architecture claims.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874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43A"/>
                </a:solidFill>
              </a:defRPr>
            </a:pPr>
            <a:r>
              <a:t>Architecture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C6874"/>
                </a:solidFill>
              </a:defRPr>
            </a:pPr>
            <a:r>
              <a:t>What each view proves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164592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32A32"/>
                </a:solidFill>
              </a:defRPr>
            </a:pPr>
            <a:r>
              <a:t>Logical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4600" y="1234440"/>
            <a:ext cx="246888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32A32"/>
                </a:solidFill>
              </a:defRPr>
            </a:pPr>
            <a:r>
              <a:t>Business/domain logic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80" y="1234440"/>
            <a:ext cx="617220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C6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232A32"/>
                </a:solidFill>
              </a:defRPr>
            </a:pPr>
            <a:r>
              <a:t>UserProfile, ProductCategory, permits, marketplace, simulated payment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94560"/>
            <a:ext cx="164592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32A32"/>
                </a:solidFill>
              </a:defRPr>
            </a:pPr>
            <a:r>
              <a:t>Process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4600" y="2194560"/>
            <a:ext cx="246888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32A32"/>
                </a:solidFill>
              </a:defRPr>
            </a:pPr>
            <a:r>
              <a:t>Runtime execution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80" y="2194560"/>
            <a:ext cx="617220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C6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232A32"/>
                </a:solidFill>
              </a:defRPr>
            </a:pPr>
            <a:r>
              <a:t>Middleware → DRF → JWT → permissions → serializer → ORM → SQLite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154680"/>
            <a:ext cx="164592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94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32A32"/>
                </a:solidFill>
              </a:defRPr>
            </a:pPr>
            <a:r>
              <a:t>Development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14600" y="3154680"/>
            <a:ext cx="246888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32A32"/>
                </a:solidFill>
              </a:defRPr>
            </a:pPr>
            <a:r>
              <a:t>Code structure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3154680"/>
            <a:ext cx="617220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C6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232A32"/>
                </a:solidFill>
              </a:defRPr>
            </a:pPr>
            <a:r>
              <a:t>Django apps + audited dependency direction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114800"/>
            <a:ext cx="164592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94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32A32"/>
                </a:solidFill>
              </a:defRPr>
            </a:pPr>
            <a:r>
              <a:t>Physical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14600" y="4114800"/>
            <a:ext cx="246888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32A32"/>
                </a:solidFill>
              </a:defRPr>
            </a:pPr>
            <a:r>
              <a:t>Current topology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80" y="4114800"/>
            <a:ext cx="617220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C6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232A32"/>
                </a:solidFill>
              </a:defRPr>
            </a:pPr>
            <a:r>
              <a:t>Browser → runserver → Django artifacts → SQLite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5074920"/>
            <a:ext cx="164592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94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32A32"/>
                </a:solidFill>
              </a:defRPr>
            </a:pPr>
            <a:r>
              <a:t>Scenario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14600" y="5074920"/>
            <a:ext cx="246888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32A32"/>
                </a:solidFill>
              </a:defRPr>
            </a:pPr>
            <a:r>
              <a:t>End-to-end interaction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12080" y="5074920"/>
            <a:ext cx="617220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C6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232A32"/>
                </a:solidFill>
              </a:defRPr>
            </a:pPr>
            <a:r>
              <a:t>Permit submission and marketplace checkout/payment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874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43A"/>
                </a:solidFill>
              </a:defRPr>
            </a:pPr>
            <a:r>
              <a:t>Viva Checkpoints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C6874"/>
                </a:solidFill>
              </a:defRPr>
            </a:pPr>
            <a:r>
              <a:t>Short answers that defend the architecture accurately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525780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32A32"/>
                </a:solidFill>
              </a:defRPr>
            </a:pPr>
            <a:r>
              <a:t>Why SQLite?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10512"/>
            <a:ext cx="5074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0">
                <a:solidFill>
                  <a:srgbClr val="5C6874"/>
                </a:solidFill>
              </a:defRPr>
            </a:pPr>
            <a:r>
              <a:t>It is the current audited development database; PostgreSQL is future scope only.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34440"/>
            <a:ext cx="525780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32A32"/>
                </a:solidFill>
              </a:defRPr>
            </a:pPr>
            <a:r>
              <a:t>Is eSewa integrated?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10512"/>
            <a:ext cx="5074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0">
                <a:solidFill>
                  <a:srgbClr val="5C6874"/>
                </a:solidFill>
              </a:defRPr>
            </a:pPr>
            <a:r>
              <a:t>No. Payment is explicitly &lt;&lt;simulated&gt;&gt; inside Django; no external gateway call exists.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560320"/>
            <a:ext cx="525780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32A32"/>
                </a:solidFill>
              </a:defRPr>
            </a:pPr>
            <a:r>
              <a:t>How is RBAC enforced?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36391"/>
            <a:ext cx="5074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0">
                <a:solidFill>
                  <a:srgbClr val="5C6874"/>
                </a:solidFill>
              </a:defRPr>
            </a:pPr>
            <a:r>
              <a:t>JWT authentication + server-side permission classes; client role navigation is not security.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560320"/>
            <a:ext cx="525780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32A32"/>
                </a:solidFill>
              </a:defRPr>
            </a:pPr>
            <a:r>
              <a:t>Are document uploads atomic?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136391"/>
            <a:ext cx="5074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0">
                <a:solidFill>
                  <a:srgbClr val="5C6874"/>
                </a:solidFill>
              </a:defRPr>
            </a:pPr>
            <a:r>
              <a:t>No. Blueprint and Lalpurja are separate HTTP requests.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886200"/>
            <a:ext cx="525780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32A32"/>
                </a:solidFill>
              </a:defRPr>
            </a:pPr>
            <a:r>
              <a:t>What happens if stock is insufficient?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462272"/>
            <a:ext cx="5074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0">
                <a:solidFill>
                  <a:srgbClr val="5C6874"/>
                </a:solidFill>
              </a:defRPr>
            </a:pPr>
            <a:r>
              <a:t>Current code raises ValueError and produces HTTP 500; this is a known issue.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886200"/>
            <a:ext cx="525780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32A32"/>
                </a:solidFill>
              </a:defRPr>
            </a:pPr>
            <a:r>
              <a:t>Why no SMTP?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462272"/>
            <a:ext cx="5074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0">
                <a:solidFill>
                  <a:srgbClr val="5C6874"/>
                </a:solidFill>
              </a:defRPr>
            </a:pPr>
            <a:r>
              <a:t>There is no implemented email/SMS notification service in the audited system.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874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43A"/>
                </a:solidFill>
              </a:defRPr>
            </a:pPr>
            <a:r>
              <a:t>NirmanSathi — Architecture Review 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C6874"/>
                </a:solidFill>
              </a:defRPr>
            </a:pPr>
            <a:r>
              <a:t>Current implementation is clearly separated from future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828800"/>
            <a:ext cx="9966960" cy="2560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32A32"/>
                </a:solidFill>
              </a:defRPr>
            </a:pPr>
            <a:r>
              <a:t>AUDITED 4+1 ARCHITECTURE</a:t>
            </a:r>
            <a:br/>
            <a:br/>
            <a:r>
              <a:t>Logical  •  Process  •  Development  •  Physical  •  Scenario</a:t>
            </a:r>
            <a:br/>
            <a:br/>
            <a:r>
              <a:t>Current implementation first. Future infrastructure explicitly labelled.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80060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C6874"/>
                </a:solidFill>
              </a:defRPr>
            </a:pPr>
            <a:r>
              <a:t>Designed for technical review and viva defensibility.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874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1667</Words>
  <Application>Microsoft Office PowerPoint</Application>
  <PresentationFormat>Widescreen</PresentationFormat>
  <Paragraphs>286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Binit Singh</cp:lastModifiedBy>
  <cp:revision>2</cp:revision>
  <dcterms:created xsi:type="dcterms:W3CDTF">2013-01-27T09:14:16Z</dcterms:created>
  <dcterms:modified xsi:type="dcterms:W3CDTF">2026-08-11T12:29:27Z</dcterms:modified>
  <cp:category/>
</cp:coreProperties>
</file>