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106424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500" b="1">
                <a:solidFill>
                  <a:srgbClr val="142B4C"/>
                </a:solidFill>
                <a:latin typeface="Aptos"/>
              </a:rPr>
              <a:t>Development View — NirmanSathi Development Process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713232"/>
            <a:ext cx="1097280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50" b="0">
                <a:solidFill>
                  <a:srgbClr val="5F6976"/>
                </a:solidFill>
                <a:latin typeface="Aptos"/>
              </a:rPr>
              <a:t>High-level development approach from requirements and design to implementation, integration, testing and version-controlled documentation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188720"/>
            <a:ext cx="2423160" cy="71323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F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8872" rIns="118872" tIns="73152" bIns="54864"/>
          <a:lstStyle/>
          <a:p>
            <a:pPr algn="ctr"/>
            <a:r>
              <a:rPr sz="1500" b="1">
                <a:solidFill>
                  <a:srgbClr val="142B4C"/>
                </a:solidFill>
                <a:latin typeface="Aptos"/>
              </a:rPr>
              <a:t>Requirements / SRS</a:t>
            </a:r>
          </a:p>
          <a:p>
            <a:pPr algn="ctr">
              <a:spcBef>
                <a:spcPts val="200"/>
              </a:spcBef>
            </a:pPr>
            <a:r>
              <a:rPr sz="900">
                <a:solidFill>
                  <a:srgbClr val="5F6976"/>
                </a:solidFill>
                <a:latin typeface="Aptos"/>
              </a:rPr>
              <a:t>Functional &amp; non-functional requirements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794760" y="1188720"/>
            <a:ext cx="2423160" cy="71323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684F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8872" rIns="118872" tIns="73152" bIns="54864"/>
          <a:lstStyle/>
          <a:p>
            <a:pPr algn="ctr"/>
            <a:r>
              <a:rPr sz="1500" b="1">
                <a:solidFill>
                  <a:srgbClr val="142B4C"/>
                </a:solidFill>
                <a:latin typeface="Aptos"/>
              </a:rPr>
              <a:t>System &amp; UI Design</a:t>
            </a:r>
          </a:p>
          <a:p>
            <a:pPr algn="ctr">
              <a:spcBef>
                <a:spcPts val="200"/>
              </a:spcBef>
            </a:pPr>
            <a:r>
              <a:rPr sz="900">
                <a:solidFill>
                  <a:srgbClr val="5F6976"/>
                </a:solidFill>
                <a:latin typeface="Aptos"/>
              </a:rPr>
              <a:t>Design before implementation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108960" y="1545336"/>
            <a:ext cx="685800" cy="0"/>
          </a:xfrm>
          <a:prstGeom prst="line">
            <a:avLst/>
          </a:prstGeom>
          <a:ln w="20320">
            <a:solidFill>
              <a:srgbClr val="2F69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1417320" y="2148840"/>
            <a:ext cx="9372600" cy="1938528"/>
          </a:xfrm>
          <a:prstGeom prst="roundRect">
            <a:avLst/>
          </a:prstGeom>
          <a:solidFill>
            <a:srgbClr val="FAFCFF"/>
          </a:solidFill>
          <a:ln w="15240">
            <a:solidFill>
              <a:srgbClr val="CF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91640" y="2258568"/>
            <a:ext cx="882396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142B4C"/>
                </a:solidFill>
                <a:latin typeface="Aptos"/>
              </a:rPr>
              <a:t>PARALLEL IMPLEMENTATION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010912" y="1901952"/>
            <a:ext cx="0" cy="246888"/>
          </a:xfrm>
          <a:prstGeom prst="line">
            <a:avLst/>
          </a:prstGeom>
          <a:ln w="20320">
            <a:solidFill>
              <a:srgbClr val="2F69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1737360" y="2688336"/>
            <a:ext cx="2606040" cy="111556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F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8872" rIns="118872" tIns="73152" bIns="54864"/>
          <a:lstStyle/>
          <a:p>
            <a:pPr algn="ctr"/>
            <a:r>
              <a:rPr sz="1400" b="1">
                <a:solidFill>
                  <a:srgbClr val="142B4C"/>
                </a:solidFill>
                <a:latin typeface="Aptos"/>
              </a:rPr>
              <a:t>Frontend Development</a:t>
            </a:r>
          </a:p>
          <a:p>
            <a:pPr algn="ctr">
              <a:spcBef>
                <a:spcPts val="200"/>
              </a:spcBef>
            </a:pPr>
            <a:r>
              <a:rPr sz="900">
                <a:solidFill>
                  <a:srgbClr val="5F6976"/>
                </a:solidFill>
                <a:latin typeface="Aptos"/>
              </a:rPr>
              <a:t>Django templates
Bootstrap • JavaScript
CSS / static files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91456" y="2688336"/>
            <a:ext cx="2606040" cy="111556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684F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8872" rIns="118872" tIns="73152" bIns="54864"/>
          <a:lstStyle/>
          <a:p>
            <a:pPr algn="ctr"/>
            <a:r>
              <a:rPr sz="1400" b="1">
                <a:solidFill>
                  <a:srgbClr val="142B4C"/>
                </a:solidFill>
                <a:latin typeface="Aptos"/>
              </a:rPr>
              <a:t>Backend Development</a:t>
            </a:r>
          </a:p>
          <a:p>
            <a:pPr algn="ctr">
              <a:spcBef>
                <a:spcPts val="200"/>
              </a:spcBef>
            </a:pPr>
            <a:r>
              <a:rPr sz="900">
                <a:solidFill>
                  <a:srgbClr val="5F6976"/>
                </a:solidFill>
                <a:latin typeface="Aptos"/>
              </a:rPr>
              <a:t>Django apps • DRF / views
Serializers • Permissions / URLs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45552" y="2688336"/>
            <a:ext cx="2606040" cy="111556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68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8872" rIns="118872" tIns="73152" bIns="54864"/>
          <a:lstStyle/>
          <a:p>
            <a:pPr algn="ctr"/>
            <a:r>
              <a:rPr sz="1400" b="1">
                <a:solidFill>
                  <a:srgbClr val="142B4C"/>
                </a:solidFill>
                <a:latin typeface="Aptos"/>
              </a:rPr>
              <a:t>Database Development</a:t>
            </a:r>
          </a:p>
          <a:p>
            <a:pPr algn="ctr">
              <a:spcBef>
                <a:spcPts val="200"/>
              </a:spcBef>
            </a:pPr>
            <a:r>
              <a:rPr sz="900">
                <a:solidFill>
                  <a:srgbClr val="5F6976"/>
                </a:solidFill>
                <a:latin typeface="Aptos"/>
              </a:rPr>
              <a:t>Models • Migrations
Django ORM • SQLite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044952" y="3803904"/>
            <a:ext cx="1847088" cy="493776"/>
          </a:xfrm>
          <a:prstGeom prst="line">
            <a:avLst/>
          </a:prstGeom>
          <a:ln w="16510">
            <a:solidFill>
              <a:srgbClr val="2F69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099048" y="3803904"/>
            <a:ext cx="0" cy="493776"/>
          </a:xfrm>
          <a:prstGeom prst="line">
            <a:avLst/>
          </a:prstGeom>
          <a:ln w="16510">
            <a:solidFill>
              <a:srgbClr val="684F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7306056" y="3803904"/>
            <a:ext cx="1837944" cy="493776"/>
          </a:xfrm>
          <a:prstGeom prst="line">
            <a:avLst/>
          </a:prstGeom>
          <a:ln w="16510">
            <a:solidFill>
              <a:srgbClr val="268B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4251960" y="4297680"/>
            <a:ext cx="3703320" cy="65836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68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8872" rIns="118872" tIns="73152" bIns="54864"/>
          <a:lstStyle/>
          <a:p>
            <a:pPr algn="ctr"/>
            <a:r>
              <a:rPr sz="1500" b="1">
                <a:solidFill>
                  <a:srgbClr val="142B4C"/>
                </a:solidFill>
                <a:latin typeface="Aptos"/>
              </a:rPr>
              <a:t>Module Integration</a:t>
            </a:r>
          </a:p>
          <a:p>
            <a:pPr algn="ctr">
              <a:spcBef>
                <a:spcPts val="200"/>
              </a:spcBef>
            </a:pPr>
            <a:r>
              <a:rPr sz="950">
                <a:solidFill>
                  <a:srgbClr val="5F6976"/>
                </a:solidFill>
                <a:latin typeface="Aptos"/>
              </a:rPr>
              <a:t>Frontend + Backend + Database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108192" y="4956048"/>
            <a:ext cx="0" cy="237744"/>
          </a:xfrm>
          <a:prstGeom prst="line">
            <a:avLst/>
          </a:prstGeom>
          <a:ln w="20320">
            <a:solidFill>
              <a:srgbClr val="2F69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4251960" y="5193792"/>
            <a:ext cx="3703320" cy="65836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F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8872" rIns="118872" tIns="73152" bIns="54864"/>
          <a:lstStyle/>
          <a:p>
            <a:pPr algn="ctr"/>
            <a:r>
              <a:rPr sz="1500" b="1">
                <a:solidFill>
                  <a:srgbClr val="142B4C"/>
                </a:solidFill>
                <a:latin typeface="Aptos"/>
              </a:rPr>
              <a:t>Testing &amp; Validation</a:t>
            </a:r>
          </a:p>
          <a:p>
            <a:pPr algn="ctr">
              <a:spcBef>
                <a:spcPts val="200"/>
              </a:spcBef>
            </a:pPr>
            <a:r>
              <a:rPr sz="950">
                <a:solidFill>
                  <a:srgbClr val="5F6976"/>
                </a:solidFill>
                <a:latin typeface="Aptos"/>
              </a:rPr>
              <a:t>Implemented features are verified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108192" y="5852160"/>
            <a:ext cx="0" cy="201168"/>
          </a:xfrm>
          <a:prstGeom prst="line">
            <a:avLst/>
          </a:prstGeom>
          <a:ln w="20320">
            <a:solidFill>
              <a:srgbClr val="2F69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251960" y="5925312"/>
            <a:ext cx="2057400" cy="56692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684F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8872" rIns="118872" tIns="73152" bIns="54864"/>
          <a:lstStyle/>
          <a:p>
            <a:pPr algn="ctr"/>
            <a:r>
              <a:rPr sz="1300" b="1">
                <a:solidFill>
                  <a:srgbClr val="142B4C"/>
                </a:solidFill>
                <a:latin typeface="Aptos"/>
              </a:rPr>
              <a:t>Fix / Revise</a:t>
            </a:r>
          </a:p>
          <a:p>
            <a:pPr algn="ctr">
              <a:spcBef>
                <a:spcPts val="200"/>
              </a:spcBef>
            </a:pPr>
            <a:r>
              <a:rPr sz="850">
                <a:solidFill>
                  <a:srgbClr val="5F6976"/>
                </a:solidFill>
                <a:latin typeface="Aptos"/>
              </a:rPr>
              <a:t>Affected files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37960" y="5925312"/>
            <a:ext cx="2240280" cy="56692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5F69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8872" rIns="118872" tIns="73152" bIns="54864"/>
          <a:lstStyle/>
          <a:p>
            <a:pPr algn="ctr"/>
            <a:r>
              <a:rPr sz="1300" b="1">
                <a:solidFill>
                  <a:srgbClr val="142B4C"/>
                </a:solidFill>
                <a:latin typeface="Aptos"/>
              </a:rPr>
              <a:t>Documentation</a:t>
            </a:r>
          </a:p>
          <a:p>
            <a:pPr algn="ctr">
              <a:spcBef>
                <a:spcPts val="200"/>
              </a:spcBef>
            </a:pPr>
            <a:r>
              <a:rPr sz="850">
                <a:solidFill>
                  <a:srgbClr val="5F6976"/>
                </a:solidFill>
                <a:latin typeface="Aptos"/>
              </a:rPr>
              <a:t>Project docs + SRS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06840" y="5925312"/>
            <a:ext cx="2240280" cy="56692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5F69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8872" rIns="118872" tIns="73152" bIns="54864"/>
          <a:lstStyle/>
          <a:p>
            <a:pPr algn="ctr"/>
            <a:r>
              <a:rPr sz="1300" b="1">
                <a:solidFill>
                  <a:srgbClr val="142B4C"/>
                </a:solidFill>
                <a:latin typeface="Aptos"/>
              </a:rPr>
              <a:t>Git / GitHub</a:t>
            </a:r>
          </a:p>
          <a:p>
            <a:pPr algn="ctr">
              <a:spcBef>
                <a:spcPts val="200"/>
              </a:spcBef>
            </a:pPr>
            <a:r>
              <a:rPr sz="850">
                <a:solidFill>
                  <a:srgbClr val="5F6976"/>
                </a:solidFill>
                <a:latin typeface="Aptos"/>
              </a:rPr>
              <a:t>Version Control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309360" y="6208776"/>
            <a:ext cx="228600" cy="0"/>
          </a:xfrm>
          <a:prstGeom prst="line">
            <a:avLst/>
          </a:prstGeom>
          <a:ln w="15240">
            <a:solidFill>
              <a:srgbClr val="5F69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778240" y="6208776"/>
            <a:ext cx="228600" cy="0"/>
          </a:xfrm>
          <a:prstGeom prst="line">
            <a:avLst/>
          </a:prstGeom>
          <a:ln w="15240">
            <a:solidFill>
              <a:srgbClr val="5F69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58368" y="6537960"/>
            <a:ext cx="1088136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50" b="0">
                <a:solidFill>
                  <a:srgbClr val="5F6976"/>
                </a:solidFill>
                <a:latin typeface="Aptos"/>
              </a:rPr>
              <a:t>Development process view — not runtime request processing or deployment topology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