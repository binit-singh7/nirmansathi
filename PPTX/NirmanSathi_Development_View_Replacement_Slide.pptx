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2D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4243A"/>
                </a:solidFill>
              </a:defRPr>
            </a:pPr>
            <a:r>
              <a:t>Development View — Software Structure &amp; Development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7498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5C6874"/>
                </a:solidFill>
              </a:defRPr>
            </a:pPr>
            <a:r>
              <a:t>How the frontend, Django backend modules, persistence and development tools are organized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788920" cy="3611880"/>
          </a:xfrm>
          <a:prstGeom prst="roundRect">
            <a:avLst/>
          </a:prstGeom>
          <a:solidFill>
            <a:srgbClr val="EFF4FB"/>
          </a:solidFill>
          <a:ln w="17780">
            <a:solidFill>
              <a:srgbClr val="2D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FRONTEND</a:t>
            </a:r>
            <a:br/>
            <a:br/>
            <a:r>
              <a:t>HTML Templates</a:t>
            </a:r>
            <a:br/>
            <a:r>
              <a:t>Bootstrap UI</a:t>
            </a:r>
            <a:br/>
            <a:r>
              <a:t>CSS</a:t>
            </a:r>
            <a:br/>
            <a:r>
              <a:t>JavaScript</a:t>
            </a:r>
            <a:br/>
            <a:br/>
            <a:r>
              <a:t>📁 templates/</a:t>
            </a:r>
            <a:br/>
            <a:r>
              <a:t>📁 static/</a:t>
            </a:r>
            <a:br/>
            <a:br/>
            <a:r>
              <a:t>User interaction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1417320"/>
            <a:ext cx="470916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32A32"/>
                </a:solidFill>
              </a:defRPr>
            </a:pPr>
            <a:r>
              <a:t>DJANGO BACKEND / REST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2423160"/>
            <a:ext cx="132588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9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32A32"/>
                </a:solidFill>
              </a:defRPr>
            </a:pPr>
            <a:r>
              <a:t>config/</a:t>
            </a:r>
            <a:br/>
            <a:r>
              <a:t>settings.py</a:t>
            </a:r>
            <a:br/>
            <a:r>
              <a:t>urls.py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2240280"/>
            <a:ext cx="260604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69" b="1">
                <a:solidFill>
                  <a:srgbClr val="232A32"/>
                </a:solidFill>
              </a:defRPr>
            </a:pPr>
            <a:r>
              <a:t>accounts/</a:t>
            </a:r>
            <a:br/>
            <a:r>
              <a:t>JWT • Authentication • RBAC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816352"/>
            <a:ext cx="260604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69" b="1">
                <a:solidFill>
                  <a:srgbClr val="232A32"/>
                </a:solidFill>
              </a:defRPr>
            </a:pPr>
            <a:r>
              <a:t>locations/</a:t>
            </a:r>
            <a:br/>
            <a:r>
              <a:t>Province • District • Municipality • Ward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0" y="3392424"/>
            <a:ext cx="260604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E7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69" b="1">
                <a:solidFill>
                  <a:srgbClr val="232A32"/>
                </a:solidFill>
              </a:defRPr>
            </a:pPr>
            <a:r>
              <a:t>permits/</a:t>
            </a:r>
            <a:br/>
            <a:r>
              <a:t>Applications • Documents •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968496"/>
            <a:ext cx="260604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E7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69" b="1">
                <a:solidFill>
                  <a:srgbClr val="232A32"/>
                </a:solidFill>
              </a:defRPr>
            </a:pPr>
            <a:r>
              <a:t>marketplace/</a:t>
            </a:r>
            <a:br/>
            <a:r>
              <a:t>Products • Categories • Cart •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4544568"/>
            <a:ext cx="260604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E7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69" b="1">
                <a:solidFill>
                  <a:srgbClr val="232A32"/>
                </a:solidFill>
              </a:defRPr>
            </a:pPr>
            <a:r>
              <a:t>payments/</a:t>
            </a:r>
            <a:br/>
            <a:r>
              <a:t>&lt;&lt;simulated&gt;&gt; Payments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91840" y="3200400"/>
            <a:ext cx="411480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182112" y="28529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5C6874"/>
                </a:solidFill>
              </a:defRPr>
            </a:pPr>
            <a:r>
              <a:t>HTTP / API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12080" y="2880360"/>
            <a:ext cx="228600" cy="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913632" y="342900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5C6874"/>
                </a:solidFill>
              </a:defRPr>
            </a:pPr>
            <a:r>
              <a:t>routes / settings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5230368"/>
            <a:ext cx="4709160" cy="594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32A32"/>
                </a:solidFill>
              </a:defRPr>
            </a:pPr>
            <a:r>
              <a:t>Django ORM  →  db.sqlite3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48272" y="5047488"/>
            <a:ext cx="0" cy="18288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823960" y="1417320"/>
            <a:ext cx="2788920" cy="13258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A7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PERSISTENCE</a:t>
            </a:r>
            <a:br/>
            <a:br/>
            <a:r>
              <a:t>Django ORM</a:t>
            </a:r>
            <a:br/>
            <a:r>
              <a:t>↓</a:t>
            </a:r>
            <a:br/>
            <a:r>
              <a:t>db.sqlite3</a:t>
            </a:r>
            <a:br/>
            <a:br/>
            <a:r>
              <a:t>Current development database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8412480" y="2743200"/>
            <a:ext cx="960120" cy="2788920"/>
          </a:xfrm>
          <a:prstGeom prst="line">
            <a:avLst/>
          </a:prstGeom>
          <a:ln w="19050">
            <a:solidFill>
              <a:srgbClr val="5C6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339327" y="397763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80" b="0">
                <a:solidFill>
                  <a:srgbClr val="5C6874"/>
                </a:solidFill>
              </a:defRPr>
            </a:pPr>
            <a:r>
              <a:t>database</a:t>
            </a:r>
            <a:br/>
            <a:r>
              <a:t>access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3063240"/>
            <a:ext cx="2788920" cy="1417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E74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A32"/>
                </a:solidFill>
              </a:defRPr>
            </a:pPr>
            <a:r>
              <a:t>DEVELOPMENT RESOURCES</a:t>
            </a:r>
            <a:br/>
            <a:br/>
            <a:r>
              <a:t>templates/</a:t>
            </a:r>
            <a:br/>
            <a:r>
              <a:t>static/</a:t>
            </a:r>
            <a:br/>
            <a:r>
              <a:t>media/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4800600"/>
            <a:ext cx="2788920" cy="10241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5C6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32A32"/>
                </a:solidFill>
              </a:defRPr>
            </a:pPr>
            <a:r>
              <a:t>GIT / GITHUB</a:t>
            </a:r>
            <a:br/>
            <a:br/>
            <a:r>
              <a:t>Version control for frontend,</a:t>
            </a:r>
            <a:br/>
            <a:r>
              <a:t>backend &amp; 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19963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0">
                <a:solidFill>
                  <a:srgbClr val="5C6874"/>
                </a:solidFill>
              </a:defRPr>
            </a:pPr>
            <a:r>
              <a:t>Development structure: Frontend → HTTP/REST → Django/DRF modules → ORM → SQLite. PostgreSQL, Gunicorn and cloud deployment are not part of the current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